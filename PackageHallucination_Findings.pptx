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E3A4F"/>
                </a:solidFill>
                <a:latin typeface="Calibri"/>
              </a:defRPr>
            </a:pPr>
            <a:r>
              <a:rPr sz="1100" b="0" i="0" u="none" strike="noStrike">
                <a:solidFill>
                  <a:srgbClr val="2E3A4F"/>
                </a:solidFill>
                <a:latin typeface="Calibri"/>
              </a:rPr>
              <a:t>Python hallucination rate (%), paper protocol</a:t>
            </a:r>
          </a:p>
        </c:rich>
      </c:tx>
      <c:layout/>
      <c:overlay val="0"/>
    </c:title>
    <c:autoTitleDeleted val="0"/>
    <c:plotArea>
      <c:layout/>
      <c:barChart>
        <c:barDir val="col"/>
        <c:grouping val="clustered"/>
        <c:varyColors val="0"/>
        <c:ser>
          <c:idx val="0"/>
          <c:order val="0"/>
          <c:tx>
            <c:strRef>
              <c:f>Sheet1!$B$1</c:f>
              <c:strCache>
                <c:ptCount val="1"/>
                <c:pt idx="0">
                  <c:v>Published (2024)</c:v>
                </c:pt>
              </c:strCache>
            </c:strRef>
          </c:tx>
          <c:spPr>
            <a:solidFill>
              <a:srgbClr val="6B7280"/>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CodeLlama 7B</c:v>
                  </c:pt>
                  <c:pt idx="1">
                    <c:v>DeepSeek 6.7B</c:v>
                  </c:pt>
                </c:lvl>
              </c:multiLvlStrCache>
            </c:multiLvlStrRef>
          </c:cat>
          <c:val>
            <c:numRef>
              <c:f>Sheet1!$B$2:$B$3</c:f>
              <c:numCache>
                <c:formatCode>General</c:formatCode>
                <c:ptCount val="2"/>
                <c:pt idx="0">
                  <c:v>26.12</c:v>
                </c:pt>
                <c:pt idx="1">
                  <c:v>16.61</c:v>
                </c:pt>
              </c:numCache>
            </c:numRef>
          </c:val>
        </c:ser>
        <c:ser>
          <c:idx val="1"/>
          <c:order val="1"/>
          <c:tx>
            <c:strRef>
              <c:f>Sheet1!$C$1</c:f>
              <c:strCache>
                <c:ptCount val="1"/>
                <c:pt idx="0">
                  <c:v>Seed 1</c:v>
                </c:pt>
              </c:strCache>
            </c:strRef>
          </c:tx>
          <c:spPr>
            <a:solidFill>
              <a:srgbClr val="3A7D7B"/>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CodeLlama 7B</c:v>
                  </c:pt>
                  <c:pt idx="1">
                    <c:v>DeepSeek 6.7B</c:v>
                  </c:pt>
                </c:lvl>
              </c:multiLvlStrCache>
            </c:multiLvlStrRef>
          </c:cat>
          <c:val>
            <c:numRef>
              <c:f>Sheet1!$C$2:$C$3</c:f>
              <c:numCache>
                <c:formatCode>General</c:formatCode>
                <c:ptCount val="2"/>
                <c:pt idx="0">
                  <c:v>24.2</c:v>
                </c:pt>
                <c:pt idx="1">
                  <c:v>14.86</c:v>
                </c:pt>
              </c:numCache>
            </c:numRef>
          </c:val>
        </c:ser>
        <c:ser>
          <c:idx val="2"/>
          <c:order val="2"/>
          <c:tx>
            <c:strRef>
              <c:f>Sheet1!$D$1</c:f>
              <c:strCache>
                <c:ptCount val="1"/>
                <c:pt idx="0">
                  <c:v>Seed 2</c:v>
                </c:pt>
              </c:strCache>
            </c:strRef>
          </c:tx>
          <c:spPr>
            <a:solidFill>
              <a:srgbClr val="3A7D7B"/>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CodeLlama 7B</c:v>
                  </c:pt>
                  <c:pt idx="1">
                    <c:v>DeepSeek 6.7B</c:v>
                  </c:pt>
                </c:lvl>
              </c:multiLvlStrCache>
            </c:multiLvlStrRef>
          </c:cat>
          <c:val>
            <c:numRef>
              <c:f>Sheet1!$D$2:$D$3</c:f>
              <c:numCache>
                <c:formatCode>General</c:formatCode>
                <c:ptCount val="2"/>
                <c:pt idx="0">
                  <c:v>24.84</c:v>
                </c:pt>
                <c:pt idx="1">
                  <c:v>14.37</c:v>
                </c:pt>
              </c:numCache>
            </c:numRef>
          </c:val>
        </c:ser>
        <c:ser>
          <c:idx val="3"/>
          <c:order val="3"/>
          <c:tx>
            <c:strRef>
              <c:f>Sheet1!$E$1</c:f>
              <c:strCache>
                <c:ptCount val="1"/>
                <c:pt idx="0">
                  <c:v>Seed 3</c:v>
                </c:pt>
              </c:strCache>
            </c:strRef>
          </c:tx>
          <c:spPr>
            <a:solidFill>
              <a:srgbClr val="3A7D7B"/>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CodeLlama 7B</c:v>
                  </c:pt>
                  <c:pt idx="1">
                    <c:v>DeepSeek 6.7B</c:v>
                  </c:pt>
                </c:lvl>
              </c:multiLvlStrCache>
            </c:multiLvlStrRef>
          </c:cat>
          <c:val>
            <c:numRef>
              <c:f>Sheet1!$E$2:$E$3</c:f>
              <c:numCache>
                <c:formatCode>General</c:formatCode>
                <c:ptCount val="2"/>
                <c:pt idx="0">
                  <c:v>24.6</c:v>
                </c:pt>
                <c:pt idx="1">
                  <c:v>14.62</c:v>
                </c:pt>
              </c:numCache>
            </c:numRef>
          </c:val>
        </c:ser>
        <c:ser>
          <c:idx val="4"/>
          <c:order val="4"/>
          <c:tx>
            <c:strRef>
              <c:f>Sheet1!$F$1</c:f>
              <c:strCache>
                <c:ptCount val="1"/>
                <c:pt idx="0">
                  <c:v>Family parser, seed mean</c:v>
                </c:pt>
              </c:strCache>
            </c:strRef>
          </c:tx>
          <c:spPr>
            <a:solidFill>
              <a:srgbClr val="E09F3E"/>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CodeLlama 7B</c:v>
                  </c:pt>
                  <c:pt idx="1">
                    <c:v>DeepSeek 6.7B</c:v>
                  </c:pt>
                </c:lvl>
              </c:multiLvlStrCache>
            </c:multiLvlStrRef>
          </c:cat>
          <c:val>
            <c:numRef>
              <c:f>Sheet1!$F$2:$F$3</c:f>
              <c:numCache>
                <c:formatCode>General</c:formatCode>
                <c:ptCount val="2"/>
                <c:pt idx="0">
                  <c:v/>
                </c:pt>
                <c:pt idx="1">
                  <c:v>13.43</c:v>
                </c:pt>
              </c:numCache>
            </c:numRef>
          </c:val>
        </c:ser>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E3A4F"/>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6E9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E3A4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E3A4F"/>
                </a:solidFill>
                <a:latin typeface="Calibri"/>
              </a:defRPr>
            </a:pPr>
            <a:r>
              <a:rPr sz="1100" b="0" i="0" u="none" strike="noStrike">
                <a:solidFill>
                  <a:srgbClr val="2E3A4F"/>
                </a:solidFill>
                <a:latin typeface="Calibri"/>
              </a:rPr>
              <a:t>Unregistered rate (%) by package-response token cap</a:t>
            </a:r>
          </a:p>
        </c:rich>
      </c:tx>
      <c:layout/>
      <c:overlay val="0"/>
    </c:title>
    <c:autoTitleDeleted val="0"/>
    <c:plotArea>
      <c:layout/>
      <c:lineChart>
        <c:varyColors val="0"/>
        <c:ser>
          <c:idx val="0"/>
          <c:order val="0"/>
          <c:tx>
            <c:strRef>
              <c:f>Sheet1!$B$1</c:f>
              <c:strCache>
                <c:ptCount val="1"/>
                <c:pt idx="0">
                  <c:v>DeepSeek Coder V2 16B</c:v>
                </c:pt>
              </c:strCache>
            </c:strRef>
          </c:tx>
          <c:spPr>
            <a:solidFill>
              <a:srgbClr val="3A7D7B"/>
            </a:solidFill>
            <a:ln w="31750" cap="flat">
              <a:solidFill>
                <a:srgbClr val="3A7D7B"/>
              </a:solidFill>
              <a:prstDash val="solid"/>
              <a:round/>
            </a:ln>
            <a:effectLst/>
          </c:spPr>
          <c:invertIfNegative val="0"/>
          <c:dLbls>
            <c:numFmt formatCode="0.0" sourceLinked="0"/>
            <c:txPr>
              <a:bodyPr/>
              <a:lstStyle/>
              <a:p>
                <a:pPr>
                  <a:defRPr b="0" i="0" strike="noStrike" sz="900" u="none">
                    <a:solidFill>
                      <a:srgbClr val="2E3A4F"/>
                    </a:solidFill>
                    <a:latin typeface="Calibri"/>
                  </a:defRPr>
                </a:pPr>
              </a:p>
            </c:txPr>
            <c:dLblPos val="t"/>
            <c:showLegendKey val="0"/>
            <c:showVal val="1"/>
            <c:showCatName val="0"/>
            <c:showSerName val="0"/>
            <c:showPercent val="0"/>
            <c:showBubbleSize val="0"/>
            <c:showLeaderLines val="0"/>
          </c:dLbls>
          <c:marker>
            <c:symbol val="circle"/>
            <c:size val="8"/>
            <c:spPr>
              <a:solidFill>
                <a:srgbClr val="3A7D7B"/>
              </a:solidFill>
              <a:ln w="9525" cap="flat">
                <a:solidFill>
                  <a:srgbClr val="3A7D7B"/>
                </a:solidFill>
                <a:prstDash val="solid"/>
                <a:round/>
              </a:ln>
              <a:effectLst/>
            </c:spPr>
          </c:marker>
          <c:cat>
            <c:multiLvlStrRef>
              <c:f>Sheet1!$A$2:$A$6</c:f>
              <c:multiLvlStrCache>
                <c:ptCount val="5"/>
                <c:lvl>
                  <c:pt idx="0">
                    <c:v>64</c:v>
                  </c:pt>
                  <c:pt idx="1">
                    <c:v>128</c:v>
                  </c:pt>
                  <c:pt idx="2">
                    <c:v>256</c:v>
                  </c:pt>
                  <c:pt idx="3">
                    <c:v>512</c:v>
                  </c:pt>
                  <c:pt idx="4">
                    <c:v>2048</c:v>
                  </c:pt>
                </c:lvl>
              </c:multiLvlStrCache>
            </c:multiLvlStrRef>
          </c:cat>
          <c:val>
            <c:numRef>
              <c:f>Sheet1!$B$2:$B$6</c:f>
              <c:numCache>
                <c:formatCode>General</c:formatCode>
                <c:ptCount val="5"/>
                <c:pt idx="0">
                  <c:v>7.12</c:v>
                </c:pt>
                <c:pt idx="1">
                  <c:v>7.19</c:v>
                </c:pt>
                <c:pt idx="2">
                  <c:v>7.1</c:v>
                </c:pt>
                <c:pt idx="3">
                  <c:v>7.48</c:v>
                </c:pt>
                <c:pt idx="4">
                  <c:v>7.14</c:v>
                </c:pt>
              </c:numCache>
            </c:numRef>
          </c:val>
          <c:smooth val="0"/>
        </c:ser>
        <c:ser>
          <c:idx val="1"/>
          <c:order val="1"/>
          <c:tx>
            <c:strRef>
              <c:f>Sheet1!$C$1</c:f>
              <c:strCache>
                <c:ptCount val="1"/>
                <c:pt idx="0">
                  <c:v>DeepSeek Coder 6.7B</c:v>
                </c:pt>
              </c:strCache>
            </c:strRef>
          </c:tx>
          <c:spPr>
            <a:solidFill>
              <a:srgbClr val="E09F3E"/>
            </a:solidFill>
            <a:ln w="31750" cap="flat">
              <a:solidFill>
                <a:srgbClr val="E09F3E"/>
              </a:solidFill>
              <a:prstDash val="solid"/>
              <a:round/>
            </a:ln>
            <a:effectLst/>
          </c:spPr>
          <c:invertIfNegative val="0"/>
          <c:dLbls>
            <c:numFmt formatCode="0.0" sourceLinked="0"/>
            <c:txPr>
              <a:bodyPr/>
              <a:lstStyle/>
              <a:p>
                <a:pPr>
                  <a:defRPr b="0" i="0" strike="noStrike" sz="900" u="none">
                    <a:solidFill>
                      <a:srgbClr val="2E3A4F"/>
                    </a:solidFill>
                    <a:latin typeface="Calibri"/>
                  </a:defRPr>
                </a:pPr>
              </a:p>
            </c:txPr>
            <c:dLblPos val="t"/>
            <c:showLegendKey val="0"/>
            <c:showVal val="1"/>
            <c:showCatName val="0"/>
            <c:showSerName val="0"/>
            <c:showPercent val="0"/>
            <c:showBubbleSize val="0"/>
            <c:showLeaderLines val="0"/>
          </c:dLbls>
          <c:marker>
            <c:symbol val="circle"/>
            <c:size val="8"/>
            <c:spPr>
              <a:solidFill>
                <a:srgbClr val="E09F3E"/>
              </a:solidFill>
              <a:ln w="9525" cap="flat">
                <a:solidFill>
                  <a:srgbClr val="E09F3E"/>
                </a:solidFill>
                <a:prstDash val="solid"/>
                <a:round/>
              </a:ln>
              <a:effectLst/>
            </c:spPr>
          </c:marker>
          <c:cat>
            <c:multiLvlStrRef>
              <c:f>Sheet1!$A$2:$A$6</c:f>
              <c:multiLvlStrCache>
                <c:ptCount val="5"/>
                <c:lvl>
                  <c:pt idx="0">
                    <c:v>64</c:v>
                  </c:pt>
                  <c:pt idx="1">
                    <c:v>128</c:v>
                  </c:pt>
                  <c:pt idx="2">
                    <c:v>256</c:v>
                  </c:pt>
                  <c:pt idx="3">
                    <c:v>512</c:v>
                  </c:pt>
                  <c:pt idx="4">
                    <c:v>2048</c:v>
                  </c:pt>
                </c:lvl>
              </c:multiLvlStrCache>
            </c:multiLvlStrRef>
          </c:cat>
          <c:val>
            <c:numRef>
              <c:f>Sheet1!$C$2:$C$6</c:f>
              <c:numCache>
                <c:formatCode>General</c:formatCode>
                <c:ptCount val="5"/>
                <c:pt idx="0">
                  <c:v>5.28</c:v>
                </c:pt>
                <c:pt idx="1">
                  <c:v>5.81</c:v>
                </c:pt>
                <c:pt idx="2">
                  <c:v>6.72</c:v>
                </c:pt>
                <c:pt idx="3">
                  <c:v>5.12</c:v>
                </c:pt>
                <c:pt idx="4">
                  <c:v>4.78</c:v>
                </c:pt>
              </c:numCache>
            </c:numRef>
          </c:val>
          <c:smooth val="0"/>
        </c:ser>
        <c:dLbls>
          <c:numFmt formatCode="0.0" sourceLinked="0"/>
          <c:txPr>
            <a:bodyPr/>
            <a:lstStyle/>
            <a:p>
              <a:pPr>
                <a:defRPr b="0" i="0" strike="noStrike" sz="900" u="none">
                  <a:solidFill>
                    <a:srgbClr val="2E3A4F"/>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B7280"/>
                    </a:solidFill>
                    <a:latin typeface="Arial"/>
                  </a:defRPr>
                </a:pPr>
                <a:r>
                  <a:rPr sz="900" b="0" i="0" u="none" strike="noStrike">
                    <a:solidFill>
                      <a:srgbClr val="6B7280"/>
                    </a:solidFill>
                    <a:latin typeface="Arial"/>
                  </a:rPr>
                  <a:t>Token cap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E3A4F"/>
                </a:solidFill>
                <a:latin typeface="Calibr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6E9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E3A4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E3A4F"/>
                </a:solidFill>
                <a:latin typeface="Calibri"/>
              </a:defRPr>
            </a:pPr>
            <a:r>
              <a:rPr sz="1100" b="0" i="0" u="none" strike="noStrike">
                <a:solidFill>
                  <a:srgbClr val="2E3A4F"/>
                </a:solidFill>
                <a:latin typeface="Calibri"/>
              </a:rPr>
              <a:t>Primary rate (%), dual registry, non-stdlib</a:t>
            </a:r>
          </a:p>
        </c:rich>
      </c:tx>
      <c:layout/>
      <c:overlay val="0"/>
    </c:title>
    <c:autoTitleDeleted val="0"/>
    <c:plotArea>
      <c:layout/>
      <c:barChart>
        <c:barDir val="bar"/>
        <c:grouping val="clustered"/>
        <c:varyColors val="0"/>
        <c:ser>
          <c:idx val="0"/>
          <c:order val="0"/>
          <c:tx>
            <c:strRef>
              <c:f>Sheet1!$B$1</c:f>
              <c:strCache>
                <c:ptCount val="1"/>
                <c:pt idx="0">
                  <c:v>Unregistered-PyPI recommendation rate (%)</c:v>
                </c:pt>
              </c:strCache>
            </c:strRef>
          </c:tx>
          <c:spPr>
            <a:solidFill>
              <a:srgbClr val="3A7D7B"/>
            </a:solidFill>
            <a:effectLst/>
          </c:spPr>
          <c:invertIfNegative val="0"/>
          <c:dLbls>
            <c:numFmt formatCode="0.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dPt>
            <c:idx val="0"/>
            <c:invertIfNegative val="0"/>
            <c:bubble3D val="0"/>
            <c:spPr>
              <a:solidFill>
                <a:srgbClr val="3A7D7B"/>
              </a:solidFill>
              <a:effectLst/>
            </c:spPr>
          </c:dPt>
          <c:dPt>
            <c:idx val="1"/>
            <c:invertIfNegative val="0"/>
            <c:bubble3D val="0"/>
            <c:spPr>
              <a:solidFill>
                <a:srgbClr val="3A7D7B"/>
              </a:solidFill>
              <a:effectLst/>
            </c:spPr>
          </c:dPt>
          <c:dPt>
            <c:idx val="2"/>
            <c:invertIfNegative val="0"/>
            <c:bubble3D val="0"/>
            <c:spPr>
              <a:solidFill>
                <a:srgbClr val="3A7D7B"/>
              </a:solidFill>
              <a:effectLst/>
            </c:spPr>
          </c:dPt>
          <c:dPt>
            <c:idx val="3"/>
            <c:invertIfNegative val="0"/>
            <c:bubble3D val="0"/>
            <c:spPr>
              <a:solidFill>
                <a:srgbClr val="E09F3E"/>
              </a:solidFill>
              <a:effectLst/>
            </c:spPr>
          </c:dPt>
          <c:dPt>
            <c:idx val="4"/>
            <c:invertIfNegative val="0"/>
            <c:bubble3D val="0"/>
            <c:spPr>
              <a:solidFill>
                <a:srgbClr val="B5432F"/>
              </a:solidFill>
              <a:effectLst/>
            </c:spPr>
          </c:dPt>
          <c:dPt>
            <c:idx val="5"/>
            <c:invertIfNegative val="0"/>
            <c:bubble3D val="0"/>
            <c:spPr>
              <a:solidFill>
                <a:srgbClr val="E09F3E"/>
              </a:solidFill>
              <a:effectLst/>
            </c:spPr>
          </c:dPt>
          <c:cat>
            <c:multiLvlStrRef>
              <c:f>Sheet1!$A$2:$A$7</c:f>
              <c:multiLvlStrCache>
                <c:ptCount val="6"/>
                <c:lvl>
                  <c:pt idx="0">
                    <c:v>Claude Opus 5</c:v>
                  </c:pt>
                  <c:pt idx="1">
                    <c:v>GPT-5.2</c:v>
                  </c:pt>
                  <c:pt idx="2">
                    <c:v>gpt-oss 20B</c:v>
                  </c:pt>
                  <c:pt idx="3">
                    <c:v>Grok 4.6</c:v>
                  </c:pt>
                  <c:pt idx="4">
                    <c:v>DeepSeek Coder V2</c:v>
                  </c:pt>
                  <c:pt idx="5">
                    <c:v>DeepSeek V4 Flash</c:v>
                  </c:pt>
                </c:lvl>
              </c:multiLvlStrCache>
            </c:multiLvlStrRef>
          </c:cat>
          <c:val>
            <c:numRef>
              <c:f>Sheet1!$B$2:$B$7</c:f>
              <c:numCache>
                <c:formatCode>General</c:formatCode>
                <c:ptCount val="6"/>
                <c:pt idx="0">
                  <c:v>1.31</c:v>
                </c:pt>
                <c:pt idx="1">
                  <c:v>1.88</c:v>
                </c:pt>
                <c:pt idx="2">
                  <c:v>2.15</c:v>
                </c:pt>
                <c:pt idx="3">
                  <c:v>8.22</c:v>
                </c:pt>
                <c:pt idx="4">
                  <c:v>10.3</c:v>
                </c:pt>
                <c:pt idx="5">
                  <c:v>17.91</c:v>
                </c:pt>
              </c:numCache>
            </c:numRef>
          </c:val>
        </c:ser>
        <c:dLbls>
          <c:numFmt formatCode="0.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E3A4F"/>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b"/>
        <c:majorGridlines>
          <c:spPr>
            <a:ln w="6350" cap="flat">
              <a:solidFill>
                <a:srgbClr val="E6E9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E3A4F"/>
                </a:solidFill>
                <a:latin typeface="Calibri"/>
              </a:defRPr>
            </a:pPr>
            <a:r>
              <a:rPr sz="1100" b="0" i="0" u="none" strike="noStrike">
                <a:solidFill>
                  <a:srgbClr val="2E3A4F"/>
                </a:solidFill>
                <a:latin typeface="Calibri"/>
              </a:rPr>
              <a:t>Leave-top-three diagnostic (%)</a:t>
            </a:r>
          </a:p>
        </c:rich>
      </c:tx>
      <c:layout/>
      <c:overlay val="0"/>
    </c:title>
    <c:autoTitleDeleted val="0"/>
    <c:plotArea>
      <c:layout/>
      <c:barChart>
        <c:barDir val="col"/>
        <c:grouping val="clustered"/>
        <c:varyColors val="0"/>
        <c:ser>
          <c:idx val="0"/>
          <c:order val="0"/>
          <c:tx>
            <c:strRef>
              <c:f>Sheet1!$B$1</c:f>
              <c:strCache>
                <c:ptCount val="1"/>
                <c:pt idx="0">
                  <c:v>Primary rate</c:v>
                </c:pt>
              </c:strCache>
            </c:strRef>
          </c:tx>
          <c:spPr>
            <a:solidFill>
              <a:srgbClr val="2E3A4F"/>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Opus 5</c:v>
                  </c:pt>
                  <c:pt idx="1">
                    <c:v>GPT-5.2</c:v>
                  </c:pt>
                  <c:pt idx="2">
                    <c:v>gpt-oss</c:v>
                  </c:pt>
                  <c:pt idx="3">
                    <c:v>Grok 4.6</c:v>
                  </c:pt>
                  <c:pt idx="4">
                    <c:v>DS Coder V2</c:v>
                  </c:pt>
                  <c:pt idx="5">
                    <c:v>DS V4 Flash</c:v>
                  </c:pt>
                </c:lvl>
              </c:multiLvlStrCache>
            </c:multiLvlStrRef>
          </c:cat>
          <c:val>
            <c:numRef>
              <c:f>Sheet1!$B$2:$B$7</c:f>
              <c:numCache>
                <c:formatCode>General</c:formatCode>
                <c:ptCount val="6"/>
                <c:pt idx="0">
                  <c:v>1.31</c:v>
                </c:pt>
                <c:pt idx="1">
                  <c:v>1.88</c:v>
                </c:pt>
                <c:pt idx="2">
                  <c:v>2.15</c:v>
                </c:pt>
                <c:pt idx="3">
                  <c:v>8.22</c:v>
                </c:pt>
                <c:pt idx="4">
                  <c:v>10.3</c:v>
                </c:pt>
                <c:pt idx="5">
                  <c:v>17.91</c:v>
                </c:pt>
              </c:numCache>
            </c:numRef>
          </c:val>
        </c:ser>
        <c:ser>
          <c:idx val="1"/>
          <c:order val="1"/>
          <c:tx>
            <c:strRef>
              <c:f>Sheet1!$C$1</c:f>
              <c:strCache>
                <c:ptCount val="1"/>
                <c:pt idx="0">
                  <c:v>Rate after removing the 3 worst responses</c:v>
                </c:pt>
              </c:strCache>
            </c:strRef>
          </c:tx>
          <c:spPr>
            <a:solidFill>
              <a:srgbClr val="E09F3E"/>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Opus 5</c:v>
                  </c:pt>
                  <c:pt idx="1">
                    <c:v>GPT-5.2</c:v>
                  </c:pt>
                  <c:pt idx="2">
                    <c:v>gpt-oss</c:v>
                  </c:pt>
                  <c:pt idx="3">
                    <c:v>Grok 4.6</c:v>
                  </c:pt>
                  <c:pt idx="4">
                    <c:v>DS Coder V2</c:v>
                  </c:pt>
                  <c:pt idx="5">
                    <c:v>DS V4 Flash</c:v>
                  </c:pt>
                </c:lvl>
              </c:multiLvlStrCache>
            </c:multiLvlStrRef>
          </c:cat>
          <c:val>
            <c:numRef>
              <c:f>Sheet1!$C$2:$C$7</c:f>
              <c:numCache>
                <c:formatCode>General</c:formatCode>
                <c:ptCount val="6"/>
                <c:pt idx="0">
                  <c:v>1.18</c:v>
                </c:pt>
                <c:pt idx="1">
                  <c:v>1.74</c:v>
                </c:pt>
                <c:pt idx="2">
                  <c:v>2.05</c:v>
                </c:pt>
                <c:pt idx="3">
                  <c:v>1.61</c:v>
                </c:pt>
                <c:pt idx="4">
                  <c:v>9.93</c:v>
                </c:pt>
                <c:pt idx="5">
                  <c:v>5.71</c:v>
                </c:pt>
              </c:numCache>
            </c:numRef>
          </c:val>
        </c:ser>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E3A4F"/>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6E9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E3A4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E3A4F"/>
                </a:solidFill>
                <a:latin typeface="Calibri"/>
              </a:defRPr>
            </a:pPr>
            <a:r>
              <a:rPr sz="1100" b="0" i="0" u="none" strike="noStrike">
                <a:solidFill>
                  <a:srgbClr val="2E3A4F"/>
                </a:solidFill>
                <a:latin typeface="Calibri"/>
              </a:rPr>
              <a:t>Same outputs, rescored with Churilov's pip-install + import extractor</a:t>
            </a:r>
          </a:p>
        </c:rich>
      </c:tx>
      <c:layout/>
      <c:overlay val="0"/>
    </c:title>
    <c:autoTitleDeleted val="0"/>
    <c:plotArea>
      <c:layout/>
      <c:barChart>
        <c:barDir val="col"/>
        <c:grouping val="clustered"/>
        <c:varyColors val="0"/>
        <c:ser>
          <c:idx val="0"/>
          <c:order val="0"/>
          <c:tx>
            <c:strRef>
              <c:f>Sheet1!$B$1</c:f>
              <c:strCache>
                <c:ptCount val="1"/>
                <c:pt idx="0">
                  <c:v>Code-import bridge rate, dual registry (%)</c:v>
                </c:pt>
              </c:strCache>
            </c:strRef>
          </c:tx>
          <c:spPr>
            <a:solidFill>
              <a:srgbClr val="3A7D7B"/>
            </a:solidFill>
            <a:effectLst/>
          </c:spPr>
          <c:invertIfNegative val="0"/>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dPt>
            <c:idx val="0"/>
            <c:invertIfNegative val="0"/>
            <c:bubble3D val="0"/>
            <c:spPr>
              <a:solidFill>
                <a:srgbClr val="3A7D7B"/>
              </a:solidFill>
              <a:effectLst/>
            </c:spPr>
          </c:dPt>
          <c:dPt>
            <c:idx val="1"/>
            <c:invertIfNegative val="0"/>
            <c:bubble3D val="0"/>
            <c:spPr>
              <a:solidFill>
                <a:srgbClr val="E09F3E"/>
              </a:solidFill>
              <a:effectLst/>
            </c:spPr>
          </c:dPt>
          <c:dPt>
            <c:idx val="2"/>
            <c:invertIfNegative val="0"/>
            <c:bubble3D val="0"/>
            <c:spPr>
              <a:solidFill>
                <a:srgbClr val="2E3A4F"/>
              </a:solidFill>
              <a:effectLst/>
            </c:spPr>
          </c:dPt>
          <c:dPt>
            <c:idx val="3"/>
            <c:invertIfNegative val="0"/>
            <c:bubble3D val="0"/>
            <c:spPr>
              <a:solidFill>
                <a:srgbClr val="E09F3E"/>
              </a:solidFill>
              <a:effectLst/>
            </c:spPr>
          </c:dPt>
          <c:dPt>
            <c:idx val="4"/>
            <c:invertIfNegative val="0"/>
            <c:bubble3D val="0"/>
            <c:spPr>
              <a:solidFill>
                <a:srgbClr val="2E3A4F"/>
              </a:solidFill>
              <a:effectLst/>
            </c:spPr>
          </c:dPt>
          <c:dPt>
            <c:idx val="5"/>
            <c:invertIfNegative val="0"/>
            <c:bubble3D val="0"/>
            <c:spPr>
              <a:solidFill>
                <a:srgbClr val="2E3A4F"/>
              </a:solidFill>
              <a:effectLst/>
            </c:spPr>
          </c:dPt>
          <c:dPt>
            <c:idx val="6"/>
            <c:invertIfNegative val="0"/>
            <c:bubble3D val="0"/>
            <c:spPr>
              <a:solidFill>
                <a:srgbClr val="2E3A4F"/>
              </a:solidFill>
              <a:effectLst/>
            </c:spPr>
          </c:dPt>
          <c:dPt>
            <c:idx val="7"/>
            <c:invertIfNegative val="0"/>
            <c:bubble3D val="0"/>
            <c:spPr>
              <a:solidFill>
                <a:srgbClr val="2E3A4F"/>
              </a:solidFill>
              <a:effectLst/>
            </c:spPr>
          </c:dPt>
          <c:dPt>
            <c:idx val="8"/>
            <c:invertIfNegative val="0"/>
            <c:bubble3D val="0"/>
            <c:spPr>
              <a:solidFill>
                <a:srgbClr val="B5432F"/>
              </a:solidFill>
              <a:effectLst/>
            </c:spPr>
          </c:dPt>
          <c:cat>
            <c:multiLvlStrRef>
              <c:f>Sheet1!$A$2:$A$10</c:f>
              <c:multiLvlStrCache>
                <c:ptCount val="9"/>
                <c:lvl>
                  <c:pt idx="0">
                    <c:v>Qwen 3.5</c:v>
                  </c:pt>
                  <c:pt idx="1">
                    <c:v>Kimi K2.7</c:v>
                  </c:pt>
                  <c:pt idx="2">
                    <c:v>GPT-5.2</c:v>
                  </c:pt>
                  <c:pt idx="3">
                    <c:v>Kimi K3</c:v>
                  </c:pt>
                  <c:pt idx="4">
                    <c:v>DS Coder V2</c:v>
                  </c:pt>
                  <c:pt idx="5">
                    <c:v>DS V4 Flash</c:v>
                  </c:pt>
                  <c:pt idx="6">
                    <c:v>Opus 5</c:v>
                  </c:pt>
                  <c:pt idx="7">
                    <c:v>gpt-oss</c:v>
                  </c:pt>
                  <c:pt idx="8">
                    <c:v>Grok 4.6</c:v>
                  </c:pt>
                </c:lvl>
              </c:multiLvlStrCache>
            </c:multiLvlStrRef>
          </c:cat>
          <c:val>
            <c:numRef>
              <c:f>Sheet1!$B$2:$B$10</c:f>
              <c:numCache>
                <c:formatCode>General</c:formatCode>
                <c:ptCount val="9"/>
                <c:pt idx="0">
                  <c:v>6.51</c:v>
                </c:pt>
                <c:pt idx="1">
                  <c:v>7.38</c:v>
                </c:pt>
                <c:pt idx="2">
                  <c:v>8.3</c:v>
                </c:pt>
                <c:pt idx="3">
                  <c:v>8.37</c:v>
                </c:pt>
                <c:pt idx="4">
                  <c:v>8.87</c:v>
                </c:pt>
                <c:pt idx="5">
                  <c:v>8.89</c:v>
                </c:pt>
                <c:pt idx="6">
                  <c:v>9.52</c:v>
                </c:pt>
                <c:pt idx="7">
                  <c:v>10.61</c:v>
                </c:pt>
                <c:pt idx="8">
                  <c:v>17.49</c:v>
                </c:pt>
              </c:numCache>
            </c:numRef>
          </c:val>
        </c:ser>
        <c:dLbls>
          <c:numFmt formatCode="0.0" sourceLinked="0"/>
          <c:txPr>
            <a:bodyPr/>
            <a:lstStyle/>
            <a:p>
              <a:pPr>
                <a:defRPr b="0" i="0" strike="noStrike" sz="900" u="none">
                  <a:solidFill>
                    <a:srgbClr val="2E3A4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E3A4F"/>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6E9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presents the findings of the replication-and-extension work in the PackageHallucination repository, organized around the seven research questions in the paper outline. Everything shown is drawn from the committed Experiments/ artifacts and PAPER_OUTLINE.md.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threat model: a package hallucination becomes a slopsquatting target the moment the name is unregistered. The original USENIX paper reported 19.7% across 16 models. Our question is how much of a reported rate is model behavior and how much is the measurement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one-sentence thesis of the paper. Each of the four cards is a measurement variable that the replication work found to materially change a reported rate. The rest of the deck walks through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asks whether the original result reproduces under the original protocol. Track B asks how current models behave under a validated instrument. The extension cells were run later under their own frozen protocols and their own multiple-comparison families. The Kimi K3 freeze is attested but not cryptographically preregistered; the repo now enforces a commit-based freeze gate for future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fact that the instrument changed the scientific conclusion. The original pipeline had no stdlib exclusion for Python, and squatters had registered stdlib names in the 2024 registry, so stdlib confusion was silently scored as valid. Strict parsing buys precision by abstaining, which is why malformed and empty rates are always co-reported.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 reproduction with exact numerical failure is more informative than a binary verdict. The generic parser is the historical parser for CodeLlama; for DeepSeek the acceptance condition is the family parser, and under it the published value is excluded by every seed's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Pooled rates are computed from the per-cap cell counts in cap_diagnostic_summary.json (both queries pooled, 100 responses per query per cap). The claim to make is non-reproduction, not that the cap is harmless: a 64-token cap still zeroes reasoning models, and cap-truncated tails interact with any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rates range from 1.31% to 17.91%. The table co-reports the outcomes the outline says must always accompany a rate: cluster interval, prompt-level risk, malformed share, and top-three concentration. The next slide shows why those columns matter more than the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signature result. The primary rates stay primary; the leave-top-three view is a diagnostic that reveals whether risk is diffuse or concentrated. Grok's and V4's wide cluster intervals come from the same few prompts. Mitigation differs by regime: routine validation for diffuse failures, flood guards and output bounds for catastrophic 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preregistration fixed the bootstrap but not the exact p-value convention, so the campaign reports both. Five pairs are stable regardless. The lesson is to lead with effect sizes, intervals, and tail shape rather than a seven-test ranking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Churilov's independent 2026 replication reports that the range of hallucination rates has shrunk on frontier models. Rescoring our frozen outputs with their code-import extractor produces cohort-sensitive partial convergence for the extension cells, but the original six cells remain above their band. The extraction channel alone does not reconcile the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Ordinary overlap does not distinguish shared training data, a common misconception, or direct elicitation by the same prompt. Four of the five all-model names in Campaign 4 have same-prompt support across all six models, so prompt induction is a live alternative explanation. Keep the six-cell and nine-cell results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preregistered 23.10% estimate is preserved as primary, but it is an occurrence-weighted aggregate dominated by extreme Query 2 enumerations. Split the channels immediately: Query 1 is 21.82% over 3,887 occurrences and Query 2 is 23.15% over 107,955. Position is the clearest mechanism, a late-enumeration validity collapse plus instruction-following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33.30% primary and label cap exclusion as post-hoc conditioning, not a corrected estimate. The ranking between K2.7 and K3 depends on the operational question: occurrence-weighted rate versus prompt risk. Cap membership is post-treatment, so it identifies an influential tail but does not establish the cap as the cause of runaway enumeration.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practices follow from the results. Version the instrument, because the parser and registry changed conclusions. Cluster by prompt, because packages within a response are not independent. Quantify concentration, because average rates conceal operationally different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outline is explicit about claims the evidence cannot carry. The provenance point matters: the K3 review found that preregistration freezes were self-attested, which is why the repository now has a commit-based freeze gate with no override for any future analytic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three-sentence conclusion from the outline and the recommended next experiment from the K2.7/K3 post-analysis and the Slack update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331"/>
        </a:solidFill>
      </p:bgPr>
    </p:bg>
    <p:spTree>
      <p:nvGrpSpPr>
        <p:cNvPr id="1" name=""/>
        <p:cNvGrpSpPr/>
        <p:nvPr/>
      </p:nvGrpSpPr>
      <p:grpSpPr>
        <a:xfrm>
          <a:off x="0" y="0"/>
          <a:ext cx="0" cy="0"/>
          <a:chOff x="0" y="0"/>
          <a:chExt cx="0" cy="0"/>
        </a:xfrm>
      </p:grpSpPr>
      <p:sp>
        <p:nvSpPr>
          <p:cNvPr id="2" name="Shape 0"/>
          <p:cNvSpPr/>
          <p:nvPr/>
        </p:nvSpPr>
        <p:spPr>
          <a:xfrm>
            <a:off x="6949440" y="-1097280"/>
            <a:ext cx="3840480" cy="3840480"/>
          </a:xfrm>
          <a:prstGeom prst="ellipse">
            <a:avLst/>
          </a:prstGeom>
          <a:solidFill>
            <a:srgbClr val="2E3A4F"/>
          </a:solidFill>
          <a:ln w="12700">
            <a:solidFill>
              <a:srgbClr val="2E3A4F"/>
            </a:solidFill>
            <a:prstDash val="solid"/>
          </a:ln>
        </p:spPr>
      </p:sp>
      <p:sp>
        <p:nvSpPr>
          <p:cNvPr id="3" name="Shape 1"/>
          <p:cNvSpPr/>
          <p:nvPr/>
        </p:nvSpPr>
        <p:spPr>
          <a:xfrm>
            <a:off x="7955280" y="365760"/>
            <a:ext cx="1005840" cy="1005840"/>
          </a:xfrm>
          <a:prstGeom prst="ellipse">
            <a:avLst/>
          </a:prstGeom>
          <a:solidFill>
            <a:srgbClr val="E09F3E"/>
          </a:solidFill>
          <a:ln w="12700">
            <a:solidFill>
              <a:srgbClr val="E09F3E"/>
            </a:solidFill>
            <a:prstDash val="solid"/>
          </a:ln>
        </p:spPr>
      </p:sp>
      <p:sp>
        <p:nvSpPr>
          <p:cNvPr id="4" name="Text 2"/>
          <p:cNvSpPr txBox="1"/>
          <p:nvPr/>
        </p:nvSpPr>
        <p:spPr>
          <a:xfrm>
            <a:off x="548640" y="822960"/>
            <a:ext cx="6400800" cy="274320"/>
          </a:xfrm>
          <a:prstGeom prst="rect">
            <a:avLst/>
          </a:prstGeom>
          <a:noFill/>
          <a:ln/>
        </p:spPr>
        <p:txBody>
          <a:bodyPr wrap="square" lIns="0" tIns="0" rIns="0" bIns="0" rtlCol="0" anchor="ctr"/>
          <a:lstStyle/>
          <a:p>
            <a:pPr indent="0" marL="0">
              <a:buNone/>
            </a:pPr>
            <a:r>
              <a:rPr lang="en-US" sz="1100" b="1" spc="300" kern="0" dirty="0">
                <a:solidFill>
                  <a:srgbClr val="E09F3E"/>
                </a:solidFill>
                <a:latin typeface="Calibri" pitchFamily="34" charset="0"/>
                <a:ea typeface="Calibri" pitchFamily="34" charset="-122"/>
                <a:cs typeface="Calibri" pitchFamily="34" charset="-120"/>
              </a:rPr>
              <a:t>PACKAGE HALLUCINATION RESEARCH  ·  FINDINGS</a:t>
            </a:r>
            <a:endParaRPr lang="en-US" sz="1100" dirty="0"/>
          </a:p>
        </p:txBody>
      </p:sp>
      <p:sp>
        <p:nvSpPr>
          <p:cNvPr id="5" name="Text 3"/>
          <p:cNvSpPr txBox="1"/>
          <p:nvPr/>
        </p:nvSpPr>
        <p:spPr>
          <a:xfrm>
            <a:off x="548640" y="1188720"/>
            <a:ext cx="74980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Package Hallucinations Revisited</a:t>
            </a:r>
            <a:endParaRPr lang="en-US" sz="4000" dirty="0"/>
          </a:p>
        </p:txBody>
      </p:sp>
      <p:sp>
        <p:nvSpPr>
          <p:cNvPr id="6" name="Text 4"/>
          <p:cNvSpPr txBox="1"/>
          <p:nvPr/>
        </p:nvSpPr>
        <p:spPr>
          <a:xfrm>
            <a:off x="548640" y="2651760"/>
            <a:ext cx="7315200" cy="731520"/>
          </a:xfrm>
          <a:prstGeom prst="rect">
            <a:avLst/>
          </a:prstGeom>
          <a:noFill/>
          <a:ln/>
        </p:spPr>
        <p:txBody>
          <a:bodyPr wrap="square" lIns="0" tIns="0" rIns="0" bIns="0" rtlCol="0" anchor="t"/>
          <a:lstStyle/>
          <a:p>
            <a:pPr indent="0" marL="0">
              <a:buNone/>
            </a:pPr>
            <a:r>
              <a:rPr lang="en-US" sz="1800" dirty="0">
                <a:solidFill>
                  <a:srgbClr val="CDD3DE"/>
                </a:solidFill>
                <a:latin typeface="Calibri" pitchFamily="34" charset="0"/>
                <a:ea typeface="Calibri" pitchFamily="34" charset="-122"/>
                <a:cs typeface="Calibri" pitchFamily="34" charset="-120"/>
              </a:rPr>
              <a:t>Measurement validity, replication, and tail risk in modern code models</a:t>
            </a:r>
            <a:endParaRPr lang="en-US" sz="1800" dirty="0"/>
          </a:p>
        </p:txBody>
      </p:sp>
      <p:sp>
        <p:nvSpPr>
          <p:cNvPr id="7" name="Text 5"/>
          <p:cNvSpPr txBox="1"/>
          <p:nvPr/>
        </p:nvSpPr>
        <p:spPr>
          <a:xfrm>
            <a:off x="548640" y="3566160"/>
            <a:ext cx="7680960" cy="914400"/>
          </a:xfrm>
          <a:prstGeom prst="rect">
            <a:avLst/>
          </a:prstGeom>
          <a:noFill/>
          <a:ln/>
        </p:spPr>
        <p:txBody>
          <a:bodyPr wrap="square" lIns="0" tIns="0" rIns="0" bIns="0" rtlCol="0" anchor="t"/>
          <a:lstStyle/>
          <a:p>
            <a:pPr indent="0" marL="0">
              <a:spcAft>
                <a:spcPts val="400"/>
              </a:spcAft>
              <a:buNone/>
            </a:pPr>
            <a:r>
              <a:rPr lang="en-US" sz="1200" dirty="0">
                <a:solidFill>
                  <a:srgbClr val="A9B1C2"/>
                </a:solidFill>
                <a:latin typeface="Calibri" pitchFamily="34" charset="0"/>
                <a:ea typeface="Calibri" pitchFamily="34" charset="-122"/>
                <a:cs typeface="Calibri" pitchFamily="34" charset="-120"/>
              </a:rPr>
              <a:t>A replication and extension of Spracklen et al., USENIX Security '25</a:t>
            </a:r>
            <a:endParaRPr lang="en-US" sz="1200" dirty="0"/>
          </a:p>
          <a:p>
            <a:pPr indent="0" marL="0">
              <a:spcAft>
                <a:spcPts val="400"/>
              </a:spcAft>
              <a:buNone/>
            </a:pPr>
            <a:r>
              <a:rPr lang="en-US" sz="1200" dirty="0">
                <a:solidFill>
                  <a:srgbClr val="A9B1C2"/>
                </a:solidFill>
                <a:latin typeface="Calibri" pitchFamily="34" charset="0"/>
                <a:ea typeface="Calibri" pitchFamily="34" charset="-122"/>
                <a:cs typeface="Calibri" pitchFamily="34" charset="-120"/>
              </a:rPr>
              <a:t>Campaign 4 benchmark  ·  Qwen 3.5 / Kimi K2.7 cloud extension  ·  Kimi K3 successor cell</a:t>
            </a:r>
            <a:endParaRPr lang="en-US" sz="1200" dirty="0"/>
          </a:p>
          <a:p>
            <a:pPr indent="0" marL="0">
              <a:spcAft>
                <a:spcPts val="400"/>
              </a:spcAft>
              <a:buNone/>
            </a:pPr>
            <a:r>
              <a:rPr lang="en-US" sz="1200" dirty="0">
                <a:solidFill>
                  <a:srgbClr val="A9B1C2"/>
                </a:solidFill>
                <a:latin typeface="Calibri" pitchFamily="34" charset="0"/>
                <a:ea typeface="Calibri" pitchFamily="34" charset="-122"/>
                <a:cs typeface="Calibri" pitchFamily="34" charset="-120"/>
              </a:rPr>
              <a:t>Results locked 2026-08-26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WHY THIS MATTERS</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Hallucinated names are supply-chain targets</a:t>
            </a:r>
            <a:endParaRPr lang="en-US" sz="2800" dirty="0"/>
          </a:p>
        </p:txBody>
      </p:sp>
      <p:sp>
        <p:nvSpPr>
          <p:cNvPr id="4" name="Shape 2"/>
          <p:cNvSpPr/>
          <p:nvPr/>
        </p:nvSpPr>
        <p:spPr>
          <a:xfrm>
            <a:off x="502920" y="1234440"/>
            <a:ext cx="384048" cy="384048"/>
          </a:xfrm>
          <a:prstGeom prst="ellipse">
            <a:avLst/>
          </a:prstGeom>
          <a:solidFill>
            <a:srgbClr val="E09F3E"/>
          </a:solidFill>
          <a:ln w="12700">
            <a:solidFill>
              <a:srgbClr val="E09F3E"/>
            </a:solidFill>
            <a:prstDash val="solid"/>
          </a:ln>
        </p:spPr>
      </p:sp>
      <p:sp>
        <p:nvSpPr>
          <p:cNvPr id="5" name="Text 3"/>
          <p:cNvSpPr txBox="1"/>
          <p:nvPr/>
        </p:nvSpPr>
        <p:spPr>
          <a:xfrm>
            <a:off x="50292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51560" y="1188720"/>
            <a:ext cx="4023360" cy="32004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The model recommends a package</a:t>
            </a:r>
            <a:endParaRPr lang="en-US" sz="1500" dirty="0"/>
          </a:p>
        </p:txBody>
      </p:sp>
      <p:sp>
        <p:nvSpPr>
          <p:cNvPr id="7" name="Text 5"/>
          <p:cNvSpPr txBox="1"/>
          <p:nvPr/>
        </p:nvSpPr>
        <p:spPr>
          <a:xfrm>
            <a:off x="1051560" y="1517904"/>
            <a:ext cx="4023360" cy="548640"/>
          </a:xfrm>
          <a:prstGeom prst="rect">
            <a:avLst/>
          </a:prstGeom>
          <a:noFill/>
          <a:ln/>
        </p:spPr>
        <p:txBody>
          <a:bodyPr wrap="square" lIns="0" tIns="0" rIns="0" bIns="0" rtlCol="0" anchor="t"/>
          <a:lstStyle/>
          <a:p>
            <a:pPr algn="l" indent="0" marL="0">
              <a:buNone/>
            </a:pPr>
            <a:r>
              <a:rPr lang="en-US" sz="1200" dirty="0">
                <a:solidFill>
                  <a:srgbClr val="2E3A4F"/>
                </a:solidFill>
                <a:latin typeface="Calibri" pitchFamily="34" charset="0"/>
                <a:ea typeface="Calibri" pitchFamily="34" charset="-122"/>
                <a:cs typeface="Calibri" pitchFamily="34" charset="-120"/>
              </a:rPr>
              <a:t>Asked which packages a task needs, a code model names one that does not exist on PyPI.</a:t>
            </a:r>
            <a:endParaRPr lang="en-US" sz="1200" dirty="0"/>
          </a:p>
        </p:txBody>
      </p:sp>
      <p:sp>
        <p:nvSpPr>
          <p:cNvPr id="8" name="Shape 6"/>
          <p:cNvSpPr/>
          <p:nvPr/>
        </p:nvSpPr>
        <p:spPr>
          <a:xfrm>
            <a:off x="502920" y="2194560"/>
            <a:ext cx="384048" cy="384048"/>
          </a:xfrm>
          <a:prstGeom prst="ellipse">
            <a:avLst/>
          </a:prstGeom>
          <a:solidFill>
            <a:srgbClr val="E09F3E"/>
          </a:solidFill>
          <a:ln w="12700">
            <a:solidFill>
              <a:srgbClr val="E09F3E"/>
            </a:solidFill>
            <a:prstDash val="solid"/>
          </a:ln>
        </p:spPr>
      </p:sp>
      <p:sp>
        <p:nvSpPr>
          <p:cNvPr id="9" name="Text 7"/>
          <p:cNvSpPr txBox="1"/>
          <p:nvPr/>
        </p:nvSpPr>
        <p:spPr>
          <a:xfrm>
            <a:off x="50292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51560" y="2148840"/>
            <a:ext cx="4023360" cy="32004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The name is unregistered</a:t>
            </a:r>
            <a:endParaRPr lang="en-US" sz="1500" dirty="0"/>
          </a:p>
        </p:txBody>
      </p:sp>
      <p:sp>
        <p:nvSpPr>
          <p:cNvPr id="11" name="Text 9"/>
          <p:cNvSpPr txBox="1"/>
          <p:nvPr/>
        </p:nvSpPr>
        <p:spPr>
          <a:xfrm>
            <a:off x="1051560" y="2478024"/>
            <a:ext cx="4023360" cy="548640"/>
          </a:xfrm>
          <a:prstGeom prst="rect">
            <a:avLst/>
          </a:prstGeom>
          <a:noFill/>
          <a:ln/>
        </p:spPr>
        <p:txBody>
          <a:bodyPr wrap="square" lIns="0" tIns="0" rIns="0" bIns="0" rtlCol="0" anchor="t"/>
          <a:lstStyle/>
          <a:p>
            <a:pPr algn="l" indent="0" marL="0">
              <a:buNone/>
            </a:pPr>
            <a:r>
              <a:rPr lang="en-US" sz="1200" dirty="0">
                <a:solidFill>
                  <a:srgbClr val="2E3A4F"/>
                </a:solidFill>
                <a:latin typeface="Calibri" pitchFamily="34" charset="0"/>
                <a:ea typeface="Calibri" pitchFamily="34" charset="-122"/>
                <a:cs typeface="Calibri" pitchFamily="34" charset="-120"/>
              </a:rPr>
              <a:t>Nothing stops an attacker from registering that exact name with malicious code inside.</a:t>
            </a:r>
            <a:endParaRPr lang="en-US" sz="1200" dirty="0"/>
          </a:p>
        </p:txBody>
      </p:sp>
      <p:sp>
        <p:nvSpPr>
          <p:cNvPr id="12" name="Shape 10"/>
          <p:cNvSpPr/>
          <p:nvPr/>
        </p:nvSpPr>
        <p:spPr>
          <a:xfrm>
            <a:off x="502920" y="3154680"/>
            <a:ext cx="384048" cy="384048"/>
          </a:xfrm>
          <a:prstGeom prst="ellipse">
            <a:avLst/>
          </a:prstGeom>
          <a:solidFill>
            <a:srgbClr val="E09F3E"/>
          </a:solidFill>
          <a:ln w="12700">
            <a:solidFill>
              <a:srgbClr val="E09F3E"/>
            </a:solidFill>
            <a:prstDash val="solid"/>
          </a:ln>
        </p:spPr>
      </p:sp>
      <p:sp>
        <p:nvSpPr>
          <p:cNvPr id="13" name="Text 11"/>
          <p:cNvSpPr txBox="1"/>
          <p:nvPr/>
        </p:nvSpPr>
        <p:spPr>
          <a:xfrm>
            <a:off x="502920" y="3154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51560" y="3108960"/>
            <a:ext cx="4023360" cy="32004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Slopsquatting</a:t>
            </a:r>
            <a:endParaRPr lang="en-US" sz="1500" dirty="0"/>
          </a:p>
        </p:txBody>
      </p:sp>
      <p:sp>
        <p:nvSpPr>
          <p:cNvPr id="15" name="Text 13"/>
          <p:cNvSpPr txBox="1"/>
          <p:nvPr/>
        </p:nvSpPr>
        <p:spPr>
          <a:xfrm>
            <a:off x="1051560" y="3438144"/>
            <a:ext cx="4023360" cy="548640"/>
          </a:xfrm>
          <a:prstGeom prst="rect">
            <a:avLst/>
          </a:prstGeom>
          <a:noFill/>
          <a:ln/>
        </p:spPr>
        <p:txBody>
          <a:bodyPr wrap="square" lIns="0" tIns="0" rIns="0" bIns="0" rtlCol="0" anchor="t"/>
          <a:lstStyle/>
          <a:p>
            <a:pPr algn="l" indent="0" marL="0">
              <a:buNone/>
            </a:pPr>
            <a:r>
              <a:rPr lang="en-US" sz="1200" dirty="0">
                <a:solidFill>
                  <a:srgbClr val="2E3A4F"/>
                </a:solidFill>
                <a:latin typeface="Calibri" pitchFamily="34" charset="0"/>
                <a:ea typeface="Calibri" pitchFamily="34" charset="-122"/>
                <a:cs typeface="Calibri" pitchFamily="34" charset="-120"/>
              </a:rPr>
              <a:t>Anyone who follows the model's advice installs the attacker's package. The recommendation, not the code, is the attack surface.</a:t>
            </a:r>
            <a:endParaRPr lang="en-US" sz="1200" dirty="0"/>
          </a:p>
        </p:txBody>
      </p:sp>
      <p:sp>
        <p:nvSpPr>
          <p:cNvPr id="16" name="Shape 14"/>
          <p:cNvSpPr/>
          <p:nvPr/>
        </p:nvSpPr>
        <p:spPr>
          <a:xfrm>
            <a:off x="5577840" y="1188720"/>
            <a:ext cx="3108960" cy="2880360"/>
          </a:xfrm>
          <a:prstGeom prst="roundRect">
            <a:avLst>
              <a:gd name="adj" fmla="val 2540"/>
            </a:avLst>
          </a:prstGeom>
          <a:solidFill>
            <a:srgbClr val="1C2331"/>
          </a:solidFill>
          <a:ln w="12700">
            <a:solidFill>
              <a:srgbClr val="1C2331"/>
            </a:solidFill>
            <a:prstDash val="solid"/>
          </a:ln>
        </p:spPr>
      </p:sp>
      <p:sp>
        <p:nvSpPr>
          <p:cNvPr id="17" name="Text 15"/>
          <p:cNvSpPr txBox="1"/>
          <p:nvPr/>
        </p:nvSpPr>
        <p:spPr>
          <a:xfrm>
            <a:off x="5806440" y="1325880"/>
            <a:ext cx="2743200" cy="274320"/>
          </a:xfrm>
          <a:prstGeom prst="rect">
            <a:avLst/>
          </a:prstGeom>
          <a:noFill/>
          <a:ln/>
        </p:spPr>
        <p:txBody>
          <a:bodyPr wrap="square" lIns="0" tIns="0" rIns="0" bIns="0" rtlCol="0" anchor="t"/>
          <a:lstStyle/>
          <a:p>
            <a:pPr algn="l" indent="0" marL="0">
              <a:buNone/>
            </a:pPr>
            <a:r>
              <a:rPr lang="en-US" sz="1000" b="1" dirty="0">
                <a:solidFill>
                  <a:srgbClr val="E09F3E"/>
                </a:solidFill>
                <a:latin typeface="Calibri" pitchFamily="34" charset="0"/>
                <a:ea typeface="Calibri" pitchFamily="34" charset="-122"/>
                <a:cs typeface="Calibri" pitchFamily="34" charset="-120"/>
              </a:rPr>
              <a:t>THE 2024 BASELINE (Spracklen et al.)</a:t>
            </a:r>
            <a:endParaRPr lang="en-US" sz="1000" dirty="0"/>
          </a:p>
        </p:txBody>
      </p:sp>
      <p:sp>
        <p:nvSpPr>
          <p:cNvPr id="18" name="Text 16"/>
          <p:cNvSpPr txBox="1"/>
          <p:nvPr/>
        </p:nvSpPr>
        <p:spPr>
          <a:xfrm>
            <a:off x="5806440" y="1600200"/>
            <a:ext cx="2743200" cy="6858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19.7%</a:t>
            </a:r>
            <a:endParaRPr lang="en-US" sz="4000" dirty="0"/>
          </a:p>
        </p:txBody>
      </p:sp>
      <p:sp>
        <p:nvSpPr>
          <p:cNvPr id="19" name="Text 17"/>
          <p:cNvSpPr txBox="1"/>
          <p:nvPr/>
        </p:nvSpPr>
        <p:spPr>
          <a:xfrm>
            <a:off x="5806440" y="2313432"/>
            <a:ext cx="2743200" cy="502920"/>
          </a:xfrm>
          <a:prstGeom prst="rect">
            <a:avLst/>
          </a:prstGeom>
          <a:noFill/>
          <a:ln/>
        </p:spPr>
        <p:txBody>
          <a:bodyPr wrap="square" lIns="0" tIns="0" rIns="0" bIns="0" rtlCol="0" anchor="t"/>
          <a:lstStyle/>
          <a:p>
            <a:pPr algn="l" indent="0" marL="0">
              <a:buNone/>
            </a:pPr>
            <a:r>
              <a:rPr lang="en-US" sz="1100" dirty="0">
                <a:solidFill>
                  <a:srgbClr val="CDD3DE"/>
                </a:solidFill>
                <a:latin typeface="Calibri" pitchFamily="34" charset="0"/>
                <a:ea typeface="Calibri" pitchFamily="34" charset="-122"/>
                <a:cs typeface="Calibri" pitchFamily="34" charset="-120"/>
              </a:rPr>
              <a:t>of recommended packages were hallucinated across 16 models and 576,000 code samples</a:t>
            </a:r>
            <a:endParaRPr lang="en-US" sz="1100" dirty="0"/>
          </a:p>
        </p:txBody>
      </p:sp>
      <p:sp>
        <p:nvSpPr>
          <p:cNvPr id="20" name="Text 18"/>
          <p:cNvSpPr txBox="1"/>
          <p:nvPr/>
        </p:nvSpPr>
        <p:spPr>
          <a:xfrm>
            <a:off x="5806440" y="2880360"/>
            <a:ext cx="2743200" cy="685800"/>
          </a:xfrm>
          <a:prstGeom prst="rect">
            <a:avLst/>
          </a:prstGeom>
          <a:noFill/>
          <a:ln/>
        </p:spPr>
        <p:txBody>
          <a:bodyPr wrap="square" lIns="0" tIns="0" rIns="0" bIns="0" rtlCol="0" anchor="b"/>
          <a:lstStyle/>
          <a:p>
            <a:pPr algn="l" indent="0" marL="0">
              <a:buNone/>
            </a:pPr>
            <a:r>
              <a:rPr lang="en-US" sz="3000" b="1" dirty="0">
                <a:solidFill>
                  <a:srgbClr val="E09F3E"/>
                </a:solidFill>
                <a:latin typeface="Cambria" pitchFamily="34" charset="0"/>
                <a:ea typeface="Cambria" pitchFamily="34" charset="-122"/>
                <a:cs typeface="Cambria" pitchFamily="34" charset="-120"/>
              </a:rPr>
              <a:t>205,474</a:t>
            </a:r>
            <a:endParaRPr lang="en-US" sz="3000" dirty="0"/>
          </a:p>
        </p:txBody>
      </p:sp>
      <p:sp>
        <p:nvSpPr>
          <p:cNvPr id="21" name="Text 19"/>
          <p:cNvSpPr txBox="1"/>
          <p:nvPr/>
        </p:nvSpPr>
        <p:spPr>
          <a:xfrm>
            <a:off x="5806440" y="3593592"/>
            <a:ext cx="2743200" cy="502920"/>
          </a:xfrm>
          <a:prstGeom prst="rect">
            <a:avLst/>
          </a:prstGeom>
          <a:noFill/>
          <a:ln/>
        </p:spPr>
        <p:txBody>
          <a:bodyPr wrap="square" lIns="0" tIns="0" rIns="0" bIns="0" rtlCol="0" anchor="t"/>
          <a:lstStyle/>
          <a:p>
            <a:pPr algn="l" indent="0" marL="0">
              <a:buNone/>
            </a:pPr>
            <a:r>
              <a:rPr lang="en-US" sz="1100" dirty="0">
                <a:solidFill>
                  <a:srgbClr val="CDD3DE"/>
                </a:solidFill>
                <a:latin typeface="Calibri" pitchFamily="34" charset="0"/>
                <a:ea typeface="Calibri" pitchFamily="34" charset="-122"/>
                <a:cs typeface="Calibri" pitchFamily="34" charset="-120"/>
              </a:rPr>
              <a:t>unique hallucinated package names discovered</a:t>
            </a:r>
            <a:endParaRPr lang="en-US" sz="1100" dirty="0"/>
          </a:p>
        </p:txBody>
      </p:sp>
      <p:sp>
        <p:nvSpPr>
          <p:cNvPr id="22" name="Text 20"/>
          <p:cNvSpPr txBox="1"/>
          <p:nvPr/>
        </p:nvSpPr>
        <p:spPr>
          <a:xfrm>
            <a:off x="457200" y="4160520"/>
            <a:ext cx="8229600" cy="457200"/>
          </a:xfrm>
          <a:prstGeom prst="rect">
            <a:avLst/>
          </a:prstGeom>
          <a:noFill/>
          <a:ln/>
        </p:spPr>
        <p:txBody>
          <a:bodyPr wrap="square" lIns="0" tIns="0" rIns="0" bIns="0" rtlCol="0" anchor="t"/>
          <a:lstStyle/>
          <a:p>
            <a:pPr algn="l" indent="0" marL="0">
              <a:buNone/>
            </a:pPr>
            <a:r>
              <a:rPr lang="en-US" sz="1300" i="1" dirty="0">
                <a:solidFill>
                  <a:srgbClr val="3A7D7B"/>
                </a:solidFill>
                <a:latin typeface="Calibri" pitchFamily="34" charset="0"/>
                <a:ea typeface="Calibri" pitchFamily="34" charset="-122"/>
                <a:cs typeface="Calibri" pitchFamily="34" charset="-120"/>
              </a:rPr>
              <a:t>This work asks whether that number is a property of the models, or partly a property of how it was measured.</a:t>
            </a:r>
            <a:endParaRPr lang="en-US" sz="1300" dirty="0"/>
          </a:p>
        </p:txBody>
      </p:sp>
      <p:sp>
        <p:nvSpPr>
          <p:cNvPr id="23" name="Text 21"/>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Spracklen, Wijewickrama, Sakib, Maiti, Viswanath, Jadliwala. "We Have a Package for You!" USENIX Security 2025.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THESIS</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Hallucination rates are not model-only properties</a:t>
            </a:r>
            <a:endParaRPr lang="en-US" sz="2800" dirty="0"/>
          </a:p>
        </p:txBody>
      </p:sp>
      <p:sp>
        <p:nvSpPr>
          <p:cNvPr id="4" name="Text 2"/>
          <p:cNvSpPr txBox="1"/>
          <p:nvPr/>
        </p:nvSpPr>
        <p:spPr>
          <a:xfrm>
            <a:off x="457200" y="1005840"/>
            <a:ext cx="8229600" cy="548640"/>
          </a:xfrm>
          <a:prstGeom prst="rect">
            <a:avLst/>
          </a:prstGeom>
          <a:noFill/>
          <a:ln/>
        </p:spPr>
        <p:txBody>
          <a:bodyPr wrap="square" lIns="0" tIns="0" rIns="0" bIns="0" rtlCol="0" anchor="t"/>
          <a:lstStyle/>
          <a:p>
            <a:pPr algn="l" indent="0" marL="0">
              <a:buNone/>
            </a:pPr>
            <a:r>
              <a:rPr lang="en-US" sz="1300" dirty="0">
                <a:solidFill>
                  <a:srgbClr val="2E3A4F"/>
                </a:solidFill>
                <a:latin typeface="Calibri" pitchFamily="34" charset="0"/>
                <a:ea typeface="Calibri" pitchFamily="34" charset="-122"/>
                <a:cs typeface="Calibri" pitchFamily="34" charset="-120"/>
              </a:rPr>
              <a:t>Four measurement factors move the reported rate. Once they are made visible, modern code models separate into three failure regimes instead of one ranking.</a:t>
            </a:r>
            <a:endParaRPr lang="en-US" sz="1300" dirty="0"/>
          </a:p>
        </p:txBody>
      </p:sp>
      <p:sp>
        <p:nvSpPr>
          <p:cNvPr id="5" name="Shape 3"/>
          <p:cNvSpPr/>
          <p:nvPr/>
        </p:nvSpPr>
        <p:spPr>
          <a:xfrm>
            <a:off x="457200" y="1691640"/>
            <a:ext cx="1965960" cy="2926080"/>
          </a:xfrm>
          <a:prstGeom prst="roundRect">
            <a:avLst>
              <a:gd name="adj" fmla="val 3721"/>
            </a:avLst>
          </a:prstGeom>
          <a:solidFill>
            <a:srgbClr val="F2F4F7"/>
          </a:solidFill>
          <a:ln w="12700">
            <a:solidFill>
              <a:srgbClr val="F2F4F7"/>
            </a:solidFill>
            <a:prstDash val="solid"/>
          </a:ln>
        </p:spPr>
      </p:sp>
      <p:sp>
        <p:nvSpPr>
          <p:cNvPr id="6" name="Shape 4"/>
          <p:cNvSpPr/>
          <p:nvPr/>
        </p:nvSpPr>
        <p:spPr>
          <a:xfrm>
            <a:off x="640080" y="1874520"/>
            <a:ext cx="384048" cy="384048"/>
          </a:xfrm>
          <a:prstGeom prst="ellipse">
            <a:avLst/>
          </a:prstGeom>
          <a:solidFill>
            <a:srgbClr val="E09F3E"/>
          </a:solidFill>
          <a:ln w="12700">
            <a:solidFill>
              <a:srgbClr val="E09F3E"/>
            </a:solidFill>
            <a:prstDash val="solid"/>
          </a:ln>
        </p:spPr>
      </p:sp>
      <p:sp>
        <p:nvSpPr>
          <p:cNvPr id="7" name="Text 5"/>
          <p:cNvSpPr txBox="1"/>
          <p:nvPr/>
        </p:nvSpPr>
        <p:spPr>
          <a:xfrm>
            <a:off x="64008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640080" y="2377440"/>
            <a:ext cx="1645920" cy="36576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Parser validity</a:t>
            </a:r>
            <a:endParaRPr lang="en-US" sz="1500" dirty="0"/>
          </a:p>
        </p:txBody>
      </p:sp>
      <p:sp>
        <p:nvSpPr>
          <p:cNvPr id="9" name="Text 7"/>
          <p:cNvSpPr txBox="1"/>
          <p:nvPr/>
        </p:nvSpPr>
        <p:spPr>
          <a:xfrm>
            <a:off x="640080" y="2743200"/>
            <a:ext cx="1645920" cy="1828800"/>
          </a:xfrm>
          <a:prstGeom prst="rect">
            <a:avLst/>
          </a:prstGeom>
          <a:noFill/>
          <a:ln/>
        </p:spPr>
        <p:txBody>
          <a:bodyPr wrap="square" lIns="0" tIns="0" rIns="0" bIns="0" rtlCol="0" anchor="t"/>
          <a:lstStyle/>
          <a:p>
            <a:pPr algn="l" indent="0" marL="0">
              <a:buNone/>
            </a:pPr>
            <a:r>
              <a:rPr lang="en-US" sz="1100" dirty="0">
                <a:solidFill>
                  <a:srgbClr val="2E3A4F"/>
                </a:solidFill>
                <a:latin typeface="Calibri" pitchFamily="34" charset="0"/>
                <a:ea typeface="Calibri" pitchFamily="34" charset="-122"/>
                <a:cs typeface="Calibri" pitchFamily="34" charset="-120"/>
              </a:rPr>
              <a:t>A permissive comma-splitter scores code fragments and prose as hallucinated packages. One DeepSeek run's apparent rate doubled from parser contamination alone.</a:t>
            </a:r>
            <a:endParaRPr lang="en-US" sz="1100" dirty="0"/>
          </a:p>
        </p:txBody>
      </p:sp>
      <p:sp>
        <p:nvSpPr>
          <p:cNvPr id="10" name="Shape 8"/>
          <p:cNvSpPr/>
          <p:nvPr/>
        </p:nvSpPr>
        <p:spPr>
          <a:xfrm>
            <a:off x="2560320" y="1691640"/>
            <a:ext cx="1965960" cy="2926080"/>
          </a:xfrm>
          <a:prstGeom prst="roundRect">
            <a:avLst>
              <a:gd name="adj" fmla="val 3721"/>
            </a:avLst>
          </a:prstGeom>
          <a:solidFill>
            <a:srgbClr val="F2F4F7"/>
          </a:solidFill>
          <a:ln w="12700">
            <a:solidFill>
              <a:srgbClr val="F2F4F7"/>
            </a:solidFill>
            <a:prstDash val="solid"/>
          </a:ln>
        </p:spPr>
      </p:sp>
      <p:sp>
        <p:nvSpPr>
          <p:cNvPr id="11" name="Shape 9"/>
          <p:cNvSpPr/>
          <p:nvPr/>
        </p:nvSpPr>
        <p:spPr>
          <a:xfrm>
            <a:off x="2743200" y="1874520"/>
            <a:ext cx="384048" cy="384048"/>
          </a:xfrm>
          <a:prstGeom prst="ellipse">
            <a:avLst/>
          </a:prstGeom>
          <a:solidFill>
            <a:srgbClr val="3A7D7B"/>
          </a:solidFill>
          <a:ln w="12700">
            <a:solidFill>
              <a:srgbClr val="3A7D7B"/>
            </a:solidFill>
            <a:prstDash val="solid"/>
          </a:ln>
        </p:spPr>
      </p:sp>
      <p:sp>
        <p:nvSpPr>
          <p:cNvPr id="12" name="Text 10"/>
          <p:cNvSpPr txBox="1"/>
          <p:nvPr/>
        </p:nvSpPr>
        <p:spPr>
          <a:xfrm>
            <a:off x="274320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2743200" y="2377440"/>
            <a:ext cx="1645920" cy="36576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Registry time</a:t>
            </a:r>
            <a:endParaRPr lang="en-US" sz="1500" dirty="0"/>
          </a:p>
        </p:txBody>
      </p:sp>
      <p:sp>
        <p:nvSpPr>
          <p:cNvPr id="14" name="Text 12"/>
          <p:cNvSpPr txBox="1"/>
          <p:nvPr/>
        </p:nvSpPr>
        <p:spPr>
          <a:xfrm>
            <a:off x="2743200" y="2743200"/>
            <a:ext cx="1645920" cy="1828800"/>
          </a:xfrm>
          <a:prstGeom prst="rect">
            <a:avLst/>
          </a:prstGeom>
          <a:noFill/>
          <a:ln/>
        </p:spPr>
        <p:txBody>
          <a:bodyPr wrap="square" lIns="0" tIns="0" rIns="0" bIns="0" rtlCol="0" anchor="t"/>
          <a:lstStyle/>
          <a:p>
            <a:pPr algn="l" indent="0" marL="0">
              <a:buNone/>
            </a:pPr>
            <a:r>
              <a:rPr lang="en-US" sz="1100" dirty="0">
                <a:solidFill>
                  <a:srgbClr val="2E3A4F"/>
                </a:solidFill>
                <a:latin typeface="Calibri" pitchFamily="34" charset="0"/>
                <a:ea typeface="Calibri" pitchFamily="34" charset="-122"/>
                <a:cs typeface="Calibri" pitchFamily="34" charset="-120"/>
              </a:rPr>
              <a:t>PyPI grew from 500,513 to 869,894 names between snapshots, and 8,961 names were deleted. A name can move from "hallucinated" to registered with no model change.</a:t>
            </a:r>
            <a:endParaRPr lang="en-US" sz="1100" dirty="0"/>
          </a:p>
        </p:txBody>
      </p:sp>
      <p:sp>
        <p:nvSpPr>
          <p:cNvPr id="15" name="Shape 13"/>
          <p:cNvSpPr/>
          <p:nvPr/>
        </p:nvSpPr>
        <p:spPr>
          <a:xfrm>
            <a:off x="4663440" y="1691640"/>
            <a:ext cx="1965960" cy="2926080"/>
          </a:xfrm>
          <a:prstGeom prst="roundRect">
            <a:avLst>
              <a:gd name="adj" fmla="val 3721"/>
            </a:avLst>
          </a:prstGeom>
          <a:solidFill>
            <a:srgbClr val="F2F4F7"/>
          </a:solidFill>
          <a:ln w="12700">
            <a:solidFill>
              <a:srgbClr val="F2F4F7"/>
            </a:solidFill>
            <a:prstDash val="solid"/>
          </a:ln>
        </p:spPr>
      </p:sp>
      <p:sp>
        <p:nvSpPr>
          <p:cNvPr id="16" name="Shape 14"/>
          <p:cNvSpPr/>
          <p:nvPr/>
        </p:nvSpPr>
        <p:spPr>
          <a:xfrm>
            <a:off x="4846320" y="1874520"/>
            <a:ext cx="384048" cy="384048"/>
          </a:xfrm>
          <a:prstGeom prst="ellipse">
            <a:avLst/>
          </a:prstGeom>
          <a:solidFill>
            <a:srgbClr val="E09F3E"/>
          </a:solidFill>
          <a:ln w="12700">
            <a:solidFill>
              <a:srgbClr val="E09F3E"/>
            </a:solidFill>
            <a:prstDash val="solid"/>
          </a:ln>
        </p:spPr>
      </p:sp>
      <p:sp>
        <p:nvSpPr>
          <p:cNvPr id="17" name="Text 15"/>
          <p:cNvSpPr txBox="1"/>
          <p:nvPr/>
        </p:nvSpPr>
        <p:spPr>
          <a:xfrm>
            <a:off x="484632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4846320" y="2377440"/>
            <a:ext cx="1645920" cy="36576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Response format</a:t>
            </a:r>
            <a:endParaRPr lang="en-US" sz="1500" dirty="0"/>
          </a:p>
        </p:txBody>
      </p:sp>
      <p:sp>
        <p:nvSpPr>
          <p:cNvPr id="19" name="Text 17"/>
          <p:cNvSpPr txBox="1"/>
          <p:nvPr/>
        </p:nvSpPr>
        <p:spPr>
          <a:xfrm>
            <a:off x="4846320" y="2743200"/>
            <a:ext cx="1645920" cy="1828800"/>
          </a:xfrm>
          <a:prstGeom prst="rect">
            <a:avLst/>
          </a:prstGeom>
          <a:noFill/>
          <a:ln/>
        </p:spPr>
        <p:txBody>
          <a:bodyPr wrap="square" lIns="0" tIns="0" rIns="0" bIns="0" rtlCol="0" anchor="t"/>
          <a:lstStyle/>
          <a:p>
            <a:pPr algn="l" indent="0" marL="0">
              <a:buNone/>
            </a:pPr>
            <a:r>
              <a:rPr lang="en-US" sz="1100" dirty="0">
                <a:solidFill>
                  <a:srgbClr val="2E3A4F"/>
                </a:solidFill>
                <a:latin typeface="Calibri" pitchFamily="34" charset="0"/>
                <a:ea typeface="Calibri" pitchFamily="34" charset="-122"/>
                <a:cs typeface="Calibri" pitchFamily="34" charset="-120"/>
              </a:rPr>
              <a:t>Token caps, hidden reasoning, literal control tokens, and list drift all change what the parser sees. A 64-token cap zeroed a reasoning model: 15 of 15 empty answers.</a:t>
            </a:r>
            <a:endParaRPr lang="en-US" sz="1100" dirty="0"/>
          </a:p>
        </p:txBody>
      </p:sp>
      <p:sp>
        <p:nvSpPr>
          <p:cNvPr id="20" name="Shape 18"/>
          <p:cNvSpPr/>
          <p:nvPr/>
        </p:nvSpPr>
        <p:spPr>
          <a:xfrm>
            <a:off x="6766560" y="1691640"/>
            <a:ext cx="1965960" cy="2926080"/>
          </a:xfrm>
          <a:prstGeom prst="roundRect">
            <a:avLst>
              <a:gd name="adj" fmla="val 3721"/>
            </a:avLst>
          </a:prstGeom>
          <a:solidFill>
            <a:srgbClr val="F2F4F7"/>
          </a:solidFill>
          <a:ln w="12700">
            <a:solidFill>
              <a:srgbClr val="F2F4F7"/>
            </a:solidFill>
            <a:prstDash val="solid"/>
          </a:ln>
        </p:spPr>
      </p:sp>
      <p:sp>
        <p:nvSpPr>
          <p:cNvPr id="21" name="Shape 19"/>
          <p:cNvSpPr/>
          <p:nvPr/>
        </p:nvSpPr>
        <p:spPr>
          <a:xfrm>
            <a:off x="6949440" y="1874520"/>
            <a:ext cx="384048" cy="384048"/>
          </a:xfrm>
          <a:prstGeom prst="ellipse">
            <a:avLst/>
          </a:prstGeom>
          <a:solidFill>
            <a:srgbClr val="3A7D7B"/>
          </a:solidFill>
          <a:ln w="12700">
            <a:solidFill>
              <a:srgbClr val="3A7D7B"/>
            </a:solidFill>
            <a:prstDash val="solid"/>
          </a:ln>
        </p:spPr>
      </p:sp>
      <p:sp>
        <p:nvSpPr>
          <p:cNvPr id="22" name="Text 20"/>
          <p:cNvSpPr txBox="1"/>
          <p:nvPr/>
        </p:nvSpPr>
        <p:spPr>
          <a:xfrm>
            <a:off x="69494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6949440" y="2377440"/>
            <a:ext cx="1645920" cy="36576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Tail behavior</a:t>
            </a:r>
            <a:endParaRPr lang="en-US" sz="1500" dirty="0"/>
          </a:p>
        </p:txBody>
      </p:sp>
      <p:sp>
        <p:nvSpPr>
          <p:cNvPr id="24" name="Text 22"/>
          <p:cNvSpPr txBox="1"/>
          <p:nvPr/>
        </p:nvSpPr>
        <p:spPr>
          <a:xfrm>
            <a:off x="6949440" y="2743200"/>
            <a:ext cx="1645920" cy="1828800"/>
          </a:xfrm>
          <a:prstGeom prst="rect">
            <a:avLst/>
          </a:prstGeom>
          <a:noFill/>
          <a:ln/>
        </p:spPr>
        <p:txBody>
          <a:bodyPr wrap="square" lIns="0" tIns="0" rIns="0" bIns="0" rtlCol="0" anchor="t"/>
          <a:lstStyle/>
          <a:p>
            <a:pPr algn="l" indent="0" marL="0">
              <a:buNone/>
            </a:pPr>
            <a:r>
              <a:rPr lang="en-US" sz="1100" dirty="0">
                <a:solidFill>
                  <a:srgbClr val="2E3A4F"/>
                </a:solidFill>
                <a:latin typeface="Calibri" pitchFamily="34" charset="0"/>
                <a:ea typeface="Calibri" pitchFamily="34" charset="-122"/>
                <a:cs typeface="Calibri" pitchFamily="34" charset="-120"/>
              </a:rPr>
              <a:t>A few runaway enumerations can supply most of a model's unregistered names. Average rate, prompt risk, and concentration answer different questions.</a:t>
            </a:r>
            <a:endParaRPr lang="en-US" sz="1100" dirty="0"/>
          </a:p>
        </p:txBody>
      </p:sp>
      <p:sp>
        <p:nvSpPr>
          <p:cNvPr id="25" name="Text 23"/>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Thesis statement from PAPER_OUTLINE.md; supporting numbers from REPLICATION.md and CAMPAIGN4_POST_ANALYSIS.md.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STUDY DESIGN</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Two tracks, one instrument, three extension cells</a:t>
            </a:r>
            <a:endParaRPr lang="en-US" sz="2800" dirty="0"/>
          </a:p>
        </p:txBody>
      </p:sp>
      <p:sp>
        <p:nvSpPr>
          <p:cNvPr id="4" name="Shape 2"/>
          <p:cNvSpPr/>
          <p:nvPr/>
        </p:nvSpPr>
        <p:spPr>
          <a:xfrm>
            <a:off x="457200" y="1097280"/>
            <a:ext cx="2651760" cy="2514600"/>
          </a:xfrm>
          <a:prstGeom prst="roundRect">
            <a:avLst>
              <a:gd name="adj" fmla="val 2909"/>
            </a:avLst>
          </a:prstGeom>
          <a:solidFill>
            <a:srgbClr val="F2F4F7"/>
          </a:solidFill>
          <a:ln w="12700">
            <a:solidFill>
              <a:srgbClr val="F2F4F7"/>
            </a:solidFill>
            <a:prstDash val="solid"/>
          </a:ln>
        </p:spPr>
      </p:sp>
      <p:sp>
        <p:nvSpPr>
          <p:cNvPr id="5" name="Shape 3"/>
          <p:cNvSpPr/>
          <p:nvPr/>
        </p:nvSpPr>
        <p:spPr>
          <a:xfrm>
            <a:off x="640080" y="1234440"/>
            <a:ext cx="1097280" cy="274320"/>
          </a:xfrm>
          <a:prstGeom prst="roundRect">
            <a:avLst>
              <a:gd name="adj" fmla="val 16667"/>
            </a:avLst>
          </a:prstGeom>
          <a:solidFill>
            <a:srgbClr val="1C2331"/>
          </a:solidFill>
          <a:ln w="12700">
            <a:solidFill>
              <a:srgbClr val="1C2331"/>
            </a:solidFill>
            <a:prstDash val="solid"/>
          </a:ln>
        </p:spPr>
      </p:sp>
      <p:sp>
        <p:nvSpPr>
          <p:cNvPr id="6" name="Text 4"/>
          <p:cNvSpPr txBox="1"/>
          <p:nvPr/>
        </p:nvSpPr>
        <p:spPr>
          <a:xfrm>
            <a:off x="640080" y="123444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TRACK A</a:t>
            </a:r>
            <a:endParaRPr lang="en-US" sz="1000" dirty="0"/>
          </a:p>
        </p:txBody>
      </p:sp>
      <p:sp>
        <p:nvSpPr>
          <p:cNvPr id="7" name="Text 5"/>
          <p:cNvSpPr txBox="1"/>
          <p:nvPr/>
        </p:nvSpPr>
        <p:spPr>
          <a:xfrm>
            <a:off x="640080" y="1572768"/>
            <a:ext cx="2331720" cy="320040"/>
          </a:xfrm>
          <a:prstGeom prst="rect">
            <a:avLst/>
          </a:prstGeom>
          <a:noFill/>
          <a:ln/>
        </p:spPr>
        <p:txBody>
          <a:bodyPr wrap="square" lIns="0" tIns="0" rIns="0" bIns="0" rtlCol="0" anchor="t"/>
          <a:lstStyle/>
          <a:p>
            <a:pPr algn="l" indent="0" marL="0">
              <a:buNone/>
            </a:pPr>
            <a:r>
              <a:rPr lang="en-US" sz="1300" b="1" dirty="0">
                <a:solidFill>
                  <a:srgbClr val="1C2331"/>
                </a:solidFill>
                <a:latin typeface="Calibri" pitchFamily="34" charset="0"/>
                <a:ea typeface="Calibri" pitchFamily="34" charset="-122"/>
                <a:cs typeface="Calibri" pitchFamily="34" charset="-120"/>
              </a:rPr>
              <a:t>Historical replication</a:t>
            </a:r>
            <a:endParaRPr lang="en-US" sz="1300" dirty="0"/>
          </a:p>
        </p:txBody>
      </p:sp>
      <p:sp>
        <p:nvSpPr>
          <p:cNvPr id="8" name="Text 6"/>
          <p:cNvSpPr txBox="1"/>
          <p:nvPr/>
        </p:nvSpPr>
        <p:spPr>
          <a:xfrm>
            <a:off x="640080" y="1920240"/>
            <a:ext cx="2331720" cy="164592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CodeLlama 7B Instruct and DeepSeek Coder 6.7B Instruct</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Paper protocol exactly: caps 2048 / 64, temperature 0.7 / 0.01</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Three independent generation seeds per model</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Original family parsers, frozen 2024 registry</a:t>
            </a:r>
            <a:endParaRPr lang="en-US" sz="1000" dirty="0"/>
          </a:p>
        </p:txBody>
      </p:sp>
      <p:sp>
        <p:nvSpPr>
          <p:cNvPr id="9" name="Shape 7"/>
          <p:cNvSpPr/>
          <p:nvPr/>
        </p:nvSpPr>
        <p:spPr>
          <a:xfrm>
            <a:off x="3246120" y="1097280"/>
            <a:ext cx="2651760" cy="2514600"/>
          </a:xfrm>
          <a:prstGeom prst="roundRect">
            <a:avLst>
              <a:gd name="adj" fmla="val 2909"/>
            </a:avLst>
          </a:prstGeom>
          <a:solidFill>
            <a:srgbClr val="F2F4F7"/>
          </a:solidFill>
          <a:ln w="12700">
            <a:solidFill>
              <a:srgbClr val="F2F4F7"/>
            </a:solidFill>
            <a:prstDash val="solid"/>
          </a:ln>
        </p:spPr>
      </p:sp>
      <p:sp>
        <p:nvSpPr>
          <p:cNvPr id="10" name="Shape 8"/>
          <p:cNvSpPr/>
          <p:nvPr/>
        </p:nvSpPr>
        <p:spPr>
          <a:xfrm>
            <a:off x="3429000" y="1234440"/>
            <a:ext cx="1097280" cy="274320"/>
          </a:xfrm>
          <a:prstGeom prst="roundRect">
            <a:avLst>
              <a:gd name="adj" fmla="val 16667"/>
            </a:avLst>
          </a:prstGeom>
          <a:solidFill>
            <a:srgbClr val="3A7D7B"/>
          </a:solidFill>
          <a:ln w="12700">
            <a:solidFill>
              <a:srgbClr val="3A7D7B"/>
            </a:solidFill>
            <a:prstDash val="solid"/>
          </a:ln>
        </p:spPr>
      </p:sp>
      <p:sp>
        <p:nvSpPr>
          <p:cNvPr id="11" name="Text 9"/>
          <p:cNvSpPr txBox="1"/>
          <p:nvPr/>
        </p:nvSpPr>
        <p:spPr>
          <a:xfrm>
            <a:off x="3429000" y="123444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TRACK B</a:t>
            </a:r>
            <a:endParaRPr lang="en-US" sz="1000" dirty="0"/>
          </a:p>
        </p:txBody>
      </p:sp>
      <p:sp>
        <p:nvSpPr>
          <p:cNvPr id="12" name="Text 10"/>
          <p:cNvSpPr txBox="1"/>
          <p:nvPr/>
        </p:nvSpPr>
        <p:spPr>
          <a:xfrm>
            <a:off x="3429000" y="1572768"/>
            <a:ext cx="2331720" cy="320040"/>
          </a:xfrm>
          <a:prstGeom prst="rect">
            <a:avLst/>
          </a:prstGeom>
          <a:noFill/>
          <a:ln/>
        </p:spPr>
        <p:txBody>
          <a:bodyPr wrap="square" lIns="0" tIns="0" rIns="0" bIns="0" rtlCol="0" anchor="t"/>
          <a:lstStyle/>
          <a:p>
            <a:pPr algn="l" indent="0" marL="0">
              <a:buNone/>
            </a:pPr>
            <a:r>
              <a:rPr lang="en-US" sz="1300" b="1" dirty="0">
                <a:solidFill>
                  <a:srgbClr val="1C2331"/>
                </a:solidFill>
                <a:latin typeface="Calibri" pitchFamily="34" charset="0"/>
                <a:ea typeface="Calibri" pitchFamily="34" charset="-122"/>
                <a:cs typeface="Calibri" pitchFamily="34" charset="-120"/>
              </a:rPr>
              <a:t>Modern benchmark (Campaign 4)</a:t>
            </a:r>
            <a:endParaRPr lang="en-US" sz="1300" dirty="0"/>
          </a:p>
        </p:txBody>
      </p:sp>
      <p:sp>
        <p:nvSpPr>
          <p:cNvPr id="13" name="Text 11"/>
          <p:cNvSpPr txBox="1"/>
          <p:nvPr/>
        </p:nvSpPr>
        <p:spPr>
          <a:xfrm>
            <a:off x="3429000" y="1920240"/>
            <a:ext cx="2331720" cy="164592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Claude Opus 5, GPT-5.2, gpt-oss 20B, Grok 4.6, DeepSeek Coder V2 16B, DeepSeek V4 Flash</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Parser v2, raised caps, reasoning disabled where supported</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Dual registries: frozen 2024-01-10 and current 2026-08-12</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Preregistered before data collection</a:t>
            </a:r>
            <a:endParaRPr lang="en-US" sz="1000" dirty="0"/>
          </a:p>
        </p:txBody>
      </p:sp>
      <p:sp>
        <p:nvSpPr>
          <p:cNvPr id="14" name="Shape 12"/>
          <p:cNvSpPr/>
          <p:nvPr/>
        </p:nvSpPr>
        <p:spPr>
          <a:xfrm>
            <a:off x="6035040" y="1097280"/>
            <a:ext cx="2651760" cy="2514600"/>
          </a:xfrm>
          <a:prstGeom prst="roundRect">
            <a:avLst>
              <a:gd name="adj" fmla="val 2909"/>
            </a:avLst>
          </a:prstGeom>
          <a:solidFill>
            <a:srgbClr val="F2F4F7"/>
          </a:solidFill>
          <a:ln w="12700">
            <a:solidFill>
              <a:srgbClr val="F2F4F7"/>
            </a:solidFill>
            <a:prstDash val="solid"/>
          </a:ln>
        </p:spPr>
      </p:sp>
      <p:sp>
        <p:nvSpPr>
          <p:cNvPr id="15" name="Shape 13"/>
          <p:cNvSpPr/>
          <p:nvPr/>
        </p:nvSpPr>
        <p:spPr>
          <a:xfrm>
            <a:off x="6217920" y="1234440"/>
            <a:ext cx="1097280" cy="274320"/>
          </a:xfrm>
          <a:prstGeom prst="roundRect">
            <a:avLst>
              <a:gd name="adj" fmla="val 16667"/>
            </a:avLst>
          </a:prstGeom>
          <a:solidFill>
            <a:srgbClr val="E09F3E"/>
          </a:solidFill>
          <a:ln w="12700">
            <a:solidFill>
              <a:srgbClr val="E09F3E"/>
            </a:solidFill>
            <a:prstDash val="solid"/>
          </a:ln>
        </p:spPr>
      </p:sp>
      <p:sp>
        <p:nvSpPr>
          <p:cNvPr id="16" name="Text 14"/>
          <p:cNvSpPr txBox="1"/>
          <p:nvPr/>
        </p:nvSpPr>
        <p:spPr>
          <a:xfrm>
            <a:off x="6217920" y="123444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EXTENSIONS</a:t>
            </a:r>
            <a:endParaRPr lang="en-US" sz="1000" dirty="0"/>
          </a:p>
        </p:txBody>
      </p:sp>
      <p:sp>
        <p:nvSpPr>
          <p:cNvPr id="17" name="Text 15"/>
          <p:cNvSpPr txBox="1"/>
          <p:nvPr/>
        </p:nvSpPr>
        <p:spPr>
          <a:xfrm>
            <a:off x="6217920" y="1572768"/>
            <a:ext cx="2331720" cy="320040"/>
          </a:xfrm>
          <a:prstGeom prst="rect">
            <a:avLst/>
          </a:prstGeom>
          <a:noFill/>
          <a:ln/>
        </p:spPr>
        <p:txBody>
          <a:bodyPr wrap="square" lIns="0" tIns="0" rIns="0" bIns="0" rtlCol="0" anchor="t"/>
          <a:lstStyle/>
          <a:p>
            <a:pPr algn="l" indent="0" marL="0">
              <a:buNone/>
            </a:pPr>
            <a:r>
              <a:rPr lang="en-US" sz="1300" b="1" dirty="0">
                <a:solidFill>
                  <a:srgbClr val="1C2331"/>
                </a:solidFill>
                <a:latin typeface="Calibri" pitchFamily="34" charset="0"/>
                <a:ea typeface="Calibri" pitchFamily="34" charset="-122"/>
                <a:cs typeface="Calibri" pitchFamily="34" charset="-120"/>
              </a:rPr>
              <a:t>Cloud and successor cells</a:t>
            </a:r>
            <a:endParaRPr lang="en-US" sz="1300" dirty="0"/>
          </a:p>
        </p:txBody>
      </p:sp>
      <p:sp>
        <p:nvSpPr>
          <p:cNvPr id="18" name="Text 16"/>
          <p:cNvSpPr txBox="1"/>
          <p:nvPr/>
        </p:nvSpPr>
        <p:spPr>
          <a:xfrm>
            <a:off x="6217920" y="1920240"/>
            <a:ext cx="2331720" cy="164592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Qwen 3.5 Cloud and Kimi K2.7 Code Cloud under a separately frozen protocol</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Kimi K3 as a pre-outcome-attested successor cell</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Per-response finish reason, tokens, and exact cap status for K3</a:t>
            </a:r>
            <a:endParaRPr lang="en-US" sz="1000" dirty="0"/>
          </a:p>
          <a:p>
            <a:pPr marL="177800" indent="-177800">
              <a:spcAft>
                <a:spcPts val="300"/>
              </a:spcAft>
              <a:buSzPct val="100000"/>
              <a:buChar char="•"/>
            </a:pPr>
            <a:r>
              <a:rPr lang="en-US" sz="1000" dirty="0">
                <a:solidFill>
                  <a:srgbClr val="2E3A4F"/>
                </a:solidFill>
                <a:latin typeface="Calibri" pitchFamily="34" charset="0"/>
                <a:ea typeface="Calibri" pitchFamily="34" charset="-122"/>
                <a:cs typeface="Calibri" pitchFamily="34" charset="-120"/>
              </a:rPr>
              <a:t>Separate Holm families; not folded into Campaign 4</a:t>
            </a:r>
            <a:endParaRPr lang="en-US" sz="1000" dirty="0"/>
          </a:p>
        </p:txBody>
      </p:sp>
      <p:sp>
        <p:nvSpPr>
          <p:cNvPr id="19" name="Shape 17"/>
          <p:cNvSpPr/>
          <p:nvPr/>
        </p:nvSpPr>
        <p:spPr>
          <a:xfrm>
            <a:off x="457200" y="3749040"/>
            <a:ext cx="8229600" cy="868680"/>
          </a:xfrm>
          <a:prstGeom prst="roundRect">
            <a:avLst>
              <a:gd name="adj" fmla="val 8421"/>
            </a:avLst>
          </a:prstGeom>
          <a:solidFill>
            <a:srgbClr val="1C2331"/>
          </a:solidFill>
          <a:ln w="12700">
            <a:solidFill>
              <a:srgbClr val="1C2331"/>
            </a:solidFill>
            <a:prstDash val="solid"/>
          </a:ln>
        </p:spPr>
      </p:sp>
      <p:sp>
        <p:nvSpPr>
          <p:cNvPr id="20" name="Text 18"/>
          <p:cNvSpPr txBox="1"/>
          <p:nvPr/>
        </p:nvSpPr>
        <p:spPr>
          <a:xfrm>
            <a:off x="640080" y="3822192"/>
            <a:ext cx="1920240" cy="365760"/>
          </a:xfrm>
          <a:prstGeom prst="rect">
            <a:avLst/>
          </a:prstGeom>
          <a:noFill/>
          <a:ln/>
        </p:spPr>
        <p:txBody>
          <a:bodyPr wrap="square" lIns="0" tIns="0" rIns="0" bIns="0" rtlCol="0" anchor="t"/>
          <a:lstStyle/>
          <a:p>
            <a:pPr algn="l" indent="0" marL="0">
              <a:buNone/>
            </a:pPr>
            <a:r>
              <a:rPr lang="en-US" sz="2000" b="1" dirty="0">
                <a:solidFill>
                  <a:srgbClr val="E09F3E"/>
                </a:solidFill>
                <a:latin typeface="Cambria" pitchFamily="34" charset="0"/>
                <a:ea typeface="Cambria" pitchFamily="34" charset="-122"/>
                <a:cs typeface="Cambria" pitchFamily="34" charset="-120"/>
              </a:rPr>
              <a:t>4 × 200</a:t>
            </a:r>
            <a:endParaRPr lang="en-US" sz="2000" dirty="0"/>
          </a:p>
        </p:txBody>
      </p:sp>
      <p:sp>
        <p:nvSpPr>
          <p:cNvPr id="21" name="Text 19"/>
          <p:cNvSpPr txBox="1"/>
          <p:nvPr/>
        </p:nvSpPr>
        <p:spPr>
          <a:xfrm>
            <a:off x="640080" y="4187952"/>
            <a:ext cx="1874520" cy="411480"/>
          </a:xfrm>
          <a:prstGeom prst="rect">
            <a:avLst/>
          </a:prstGeom>
          <a:noFill/>
          <a:ln/>
        </p:spPr>
        <p:txBody>
          <a:bodyPr wrap="square" lIns="0" tIns="0" rIns="0" bIns="0" rtlCol="0" anchor="t"/>
          <a:lstStyle/>
          <a:p>
            <a:pPr algn="l" indent="0" marL="0">
              <a:buNone/>
            </a:pPr>
            <a:r>
              <a:rPr lang="en-US" sz="950" dirty="0">
                <a:solidFill>
                  <a:srgbClr val="CDD3DE"/>
                </a:solidFill>
                <a:latin typeface="Calibri" pitchFamily="34" charset="0"/>
                <a:ea typeface="Calibri" pitchFamily="34" charset="-122"/>
                <a:cs typeface="Calibri" pitchFamily="34" charset="-120"/>
              </a:rPr>
              <a:t>prompts: two Stack Overflow and two LLM-generated datasets, fixed seed</a:t>
            </a:r>
            <a:endParaRPr lang="en-US" sz="950" dirty="0"/>
          </a:p>
        </p:txBody>
      </p:sp>
      <p:sp>
        <p:nvSpPr>
          <p:cNvPr id="22" name="Text 20"/>
          <p:cNvSpPr txBox="1"/>
          <p:nvPr/>
        </p:nvSpPr>
        <p:spPr>
          <a:xfrm>
            <a:off x="2697480" y="3822192"/>
            <a:ext cx="1920240" cy="365760"/>
          </a:xfrm>
          <a:prstGeom prst="rect">
            <a:avLst/>
          </a:prstGeom>
          <a:noFill/>
          <a:ln/>
        </p:spPr>
        <p:txBody>
          <a:bodyPr wrap="square" lIns="0" tIns="0" rIns="0" bIns="0" rtlCol="0" anchor="t"/>
          <a:lstStyle/>
          <a:p>
            <a:pPr algn="l" indent="0" marL="0">
              <a:buNone/>
            </a:pPr>
            <a:r>
              <a:rPr lang="en-US" sz="2000" b="1" dirty="0">
                <a:solidFill>
                  <a:srgbClr val="E09F3E"/>
                </a:solidFill>
                <a:latin typeface="Cambria" pitchFamily="34" charset="0"/>
                <a:ea typeface="Cambria" pitchFamily="34" charset="-122"/>
                <a:cs typeface="Cambria" pitchFamily="34" charset="-120"/>
              </a:rPr>
              <a:t>2</a:t>
            </a:r>
            <a:endParaRPr lang="en-US" sz="2000" dirty="0"/>
          </a:p>
        </p:txBody>
      </p:sp>
      <p:sp>
        <p:nvSpPr>
          <p:cNvPr id="23" name="Text 21"/>
          <p:cNvSpPr txBox="1"/>
          <p:nvPr/>
        </p:nvSpPr>
        <p:spPr>
          <a:xfrm>
            <a:off x="2697480" y="4187952"/>
            <a:ext cx="1874520" cy="411480"/>
          </a:xfrm>
          <a:prstGeom prst="rect">
            <a:avLst/>
          </a:prstGeom>
          <a:noFill/>
          <a:ln/>
        </p:spPr>
        <p:txBody>
          <a:bodyPr wrap="square" lIns="0" tIns="0" rIns="0" bIns="0" rtlCol="0" anchor="t"/>
          <a:lstStyle/>
          <a:p>
            <a:pPr algn="l" indent="0" marL="0">
              <a:buNone/>
            </a:pPr>
            <a:r>
              <a:rPr lang="en-US" sz="950" dirty="0">
                <a:solidFill>
                  <a:srgbClr val="CDD3DE"/>
                </a:solidFill>
                <a:latin typeface="Calibri" pitchFamily="34" charset="0"/>
                <a:ea typeface="Calibri" pitchFamily="34" charset="-122"/>
                <a:cs typeface="Calibri" pitchFamily="34" charset="-120"/>
              </a:rPr>
              <a:t>package queries per prompt: over the generated code, and over the task</a:t>
            </a:r>
            <a:endParaRPr lang="en-US" sz="950" dirty="0"/>
          </a:p>
        </p:txBody>
      </p:sp>
      <p:sp>
        <p:nvSpPr>
          <p:cNvPr id="24" name="Text 22"/>
          <p:cNvSpPr txBox="1"/>
          <p:nvPr/>
        </p:nvSpPr>
        <p:spPr>
          <a:xfrm>
            <a:off x="4754880" y="3822192"/>
            <a:ext cx="1920240" cy="365760"/>
          </a:xfrm>
          <a:prstGeom prst="rect">
            <a:avLst/>
          </a:prstGeom>
          <a:noFill/>
          <a:ln/>
        </p:spPr>
        <p:txBody>
          <a:bodyPr wrap="square" lIns="0" tIns="0" rIns="0" bIns="0" rtlCol="0" anchor="t"/>
          <a:lstStyle/>
          <a:p>
            <a:pPr algn="l" indent="0" marL="0">
              <a:buNone/>
            </a:pPr>
            <a:r>
              <a:rPr lang="en-US" sz="2000" b="1" dirty="0">
                <a:solidFill>
                  <a:srgbClr val="E09F3E"/>
                </a:solidFill>
                <a:latin typeface="Cambria" pitchFamily="34" charset="0"/>
                <a:ea typeface="Cambria" pitchFamily="34" charset="-122"/>
                <a:cs typeface="Cambria" pitchFamily="34" charset="-120"/>
              </a:rPr>
              <a:t>1,600</a:t>
            </a:r>
            <a:endParaRPr lang="en-US" sz="2000" dirty="0"/>
          </a:p>
        </p:txBody>
      </p:sp>
      <p:sp>
        <p:nvSpPr>
          <p:cNvPr id="25" name="Text 23"/>
          <p:cNvSpPr txBox="1"/>
          <p:nvPr/>
        </p:nvSpPr>
        <p:spPr>
          <a:xfrm>
            <a:off x="4754880" y="4187952"/>
            <a:ext cx="1874520" cy="411480"/>
          </a:xfrm>
          <a:prstGeom prst="rect">
            <a:avLst/>
          </a:prstGeom>
          <a:noFill/>
          <a:ln/>
        </p:spPr>
        <p:txBody>
          <a:bodyPr wrap="square" lIns="0" tIns="0" rIns="0" bIns="0" rtlCol="0" anchor="t"/>
          <a:lstStyle/>
          <a:p>
            <a:pPr algn="l" indent="0" marL="0">
              <a:buNone/>
            </a:pPr>
            <a:r>
              <a:rPr lang="en-US" sz="950" dirty="0">
                <a:solidFill>
                  <a:srgbClr val="CDD3DE"/>
                </a:solidFill>
                <a:latin typeface="Calibri" pitchFamily="34" charset="0"/>
                <a:ea typeface="Calibri" pitchFamily="34" charset="-122"/>
                <a:cs typeface="Calibri" pitchFamily="34" charset="-120"/>
              </a:rPr>
              <a:t>package responses per complete cell</a:t>
            </a:r>
            <a:endParaRPr lang="en-US" sz="950" dirty="0"/>
          </a:p>
        </p:txBody>
      </p:sp>
      <p:sp>
        <p:nvSpPr>
          <p:cNvPr id="26" name="Text 24"/>
          <p:cNvSpPr txBox="1"/>
          <p:nvPr/>
        </p:nvSpPr>
        <p:spPr>
          <a:xfrm>
            <a:off x="6812280" y="3822192"/>
            <a:ext cx="1920240" cy="365760"/>
          </a:xfrm>
          <a:prstGeom prst="rect">
            <a:avLst/>
          </a:prstGeom>
          <a:noFill/>
          <a:ln/>
        </p:spPr>
        <p:txBody>
          <a:bodyPr wrap="square" lIns="0" tIns="0" rIns="0" bIns="0" rtlCol="0" anchor="t"/>
          <a:lstStyle/>
          <a:p>
            <a:pPr algn="l" indent="0" marL="0">
              <a:buNone/>
            </a:pPr>
            <a:r>
              <a:rPr lang="en-US" sz="2000" b="1" dirty="0">
                <a:solidFill>
                  <a:srgbClr val="E09F3E"/>
                </a:solidFill>
                <a:latin typeface="Cambria" pitchFamily="34" charset="0"/>
                <a:ea typeface="Cambria" pitchFamily="34" charset="-122"/>
                <a:cs typeface="Cambria" pitchFamily="34" charset="-120"/>
              </a:rPr>
              <a:t>Prompt</a:t>
            </a:r>
            <a:endParaRPr lang="en-US" sz="2000" dirty="0"/>
          </a:p>
        </p:txBody>
      </p:sp>
      <p:sp>
        <p:nvSpPr>
          <p:cNvPr id="27" name="Text 25"/>
          <p:cNvSpPr txBox="1"/>
          <p:nvPr/>
        </p:nvSpPr>
        <p:spPr>
          <a:xfrm>
            <a:off x="6812280" y="4187952"/>
            <a:ext cx="1874520" cy="411480"/>
          </a:xfrm>
          <a:prstGeom prst="rect">
            <a:avLst/>
          </a:prstGeom>
          <a:noFill/>
          <a:ln/>
        </p:spPr>
        <p:txBody>
          <a:bodyPr wrap="square" lIns="0" tIns="0" rIns="0" bIns="0" rtlCol="0" anchor="t"/>
          <a:lstStyle/>
          <a:p>
            <a:pPr algn="l" indent="0" marL="0">
              <a:buNone/>
            </a:pPr>
            <a:r>
              <a:rPr lang="en-US" sz="950" dirty="0">
                <a:solidFill>
                  <a:srgbClr val="CDD3DE"/>
                </a:solidFill>
                <a:latin typeface="Calibri" pitchFamily="34" charset="0"/>
                <a:ea typeface="Calibri" pitchFamily="34" charset="-122"/>
                <a:cs typeface="Calibri" pitchFamily="34" charset="-120"/>
              </a:rPr>
              <a:t>is the cluster and pairing unit for every interval</a:t>
            </a:r>
            <a:endParaRPr lang="en-US" sz="950" dirty="0"/>
          </a:p>
        </p:txBody>
      </p:sp>
      <p:sp>
        <p:nvSpPr>
          <p:cNvPr id="28" name="Text 26"/>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PREREGISTRATION_v4.md, PREREGISTRATION_OLLAMA_CLOUD_EXTENSION.md, PREREGISTRATION_KIMI_K3_EXTENSION.md. Track B is not a scale reproduction of the 2024 paper.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RQ2  ·  MEASUREMENT VALIDITY</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The parser and the registry are part of the result</a:t>
            </a:r>
            <a:endParaRPr lang="en-US" sz="2800" dirty="0"/>
          </a:p>
        </p:txBody>
      </p:sp>
      <p:sp>
        <p:nvSpPr>
          <p:cNvPr id="4" name="Shape 2"/>
          <p:cNvSpPr/>
          <p:nvPr/>
        </p:nvSpPr>
        <p:spPr>
          <a:xfrm>
            <a:off x="457200" y="1097280"/>
            <a:ext cx="4023360" cy="3520440"/>
          </a:xfrm>
          <a:prstGeom prst="roundRect">
            <a:avLst>
              <a:gd name="adj" fmla="val 2078"/>
            </a:avLst>
          </a:prstGeom>
          <a:solidFill>
            <a:srgbClr val="F2F4F7"/>
          </a:solidFill>
          <a:ln w="12700">
            <a:solidFill>
              <a:srgbClr val="F2F4F7"/>
            </a:solidFill>
            <a:prstDash val="solid"/>
          </a:ln>
        </p:spPr>
      </p:sp>
      <p:sp>
        <p:nvSpPr>
          <p:cNvPr id="5" name="Text 3"/>
          <p:cNvSpPr txBox="1"/>
          <p:nvPr/>
        </p:nvSpPr>
        <p:spPr>
          <a:xfrm>
            <a:off x="640080" y="1234440"/>
            <a:ext cx="3657600" cy="36576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Parser v2: grammar-aware, abstains on drift</a:t>
            </a:r>
            <a:endParaRPr lang="en-US" sz="1500" dirty="0"/>
          </a:p>
        </p:txBody>
      </p:sp>
      <p:sp>
        <p:nvSpPr>
          <p:cNvPr id="6" name="Text 4"/>
          <p:cNvSpPr txBox="1"/>
          <p:nvPr/>
        </p:nvSpPr>
        <p:spPr>
          <a:xfrm>
            <a:off x="640080" y="1645920"/>
            <a:ext cx="3657600" cy="21945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E3A4F"/>
                </a:solidFill>
                <a:latin typeface="Calibri" pitchFamily="34" charset="0"/>
                <a:ea typeface="Calibri" pitchFamily="34" charset="-122"/>
                <a:cs typeface="Calibri" pitchFamily="34" charset="-120"/>
              </a:rPr>
              <a:t>Frozen comma/list grammar with anchored marker removal; every response is classified as list, malformed, or empty</a:t>
            </a:r>
            <a:endParaRPr lang="en-US" sz="1100" dirty="0"/>
          </a:p>
          <a:p>
            <a:pPr marL="177800" indent="-177800">
              <a:spcAft>
                <a:spcPts val="500"/>
              </a:spcAft>
              <a:buSzPct val="100000"/>
              <a:buChar char="•"/>
            </a:pPr>
            <a:r>
              <a:rPr lang="en-US" sz="1100" dirty="0">
                <a:solidFill>
                  <a:srgbClr val="2E3A4F"/>
                </a:solidFill>
                <a:latin typeface="Calibri" pitchFamily="34" charset="0"/>
                <a:ea typeface="Calibri" pitchFamily="34" charset="-122"/>
                <a:cs typeface="Calibri" pitchFamily="34" charset="-120"/>
              </a:rPr>
              <a:t>Malformed responses are abstentions and add nothing to the denominator, so coverage is reported beside every rate</a:t>
            </a:r>
            <a:endParaRPr lang="en-US" sz="1100" dirty="0"/>
          </a:p>
          <a:p>
            <a:pPr marL="177800" indent="-177800">
              <a:spcAft>
                <a:spcPts val="500"/>
              </a:spcAft>
              <a:buSzPct val="100000"/>
              <a:buChar char="•"/>
            </a:pPr>
            <a:r>
              <a:rPr lang="en-US" sz="1100" dirty="0">
                <a:solidFill>
                  <a:srgbClr val="2E3A4F"/>
                </a:solidFill>
                <a:latin typeface="Calibri" pitchFamily="34" charset="0"/>
                <a:ea typeface="Calibri" pitchFamily="34" charset="-122"/>
                <a:cs typeface="Calibri" pitchFamily="34" charset="-120"/>
              </a:rPr>
              <a:t>Initial 200-response validation: 98% status accuracy, zero incorrect extractions, 79.75% end-to-end recall from deliberate strict abstention</a:t>
            </a:r>
            <a:endParaRPr lang="en-US" sz="1100" dirty="0"/>
          </a:p>
          <a:p>
            <a:pPr marL="177800" indent="-177800">
              <a:spcAft>
                <a:spcPts val="500"/>
              </a:spcAft>
              <a:buSzPct val="100000"/>
              <a:buChar char="•"/>
            </a:pPr>
            <a:r>
              <a:rPr lang="en-US" sz="1100" dirty="0">
                <a:solidFill>
                  <a:srgbClr val="2E3A4F"/>
                </a:solidFill>
                <a:latin typeface="Calibri" pitchFamily="34" charset="0"/>
                <a:ea typeface="Calibri" pitchFamily="34" charset="-122"/>
                <a:cs typeface="Calibri" pitchFamily="34" charset="-120"/>
              </a:rPr>
              <a:t>Post-campaign audit of 180 Track B responses: 180 of 180 frozen-contract agreement across all six models</a:t>
            </a:r>
            <a:endParaRPr lang="en-US" sz="1100" dirty="0"/>
          </a:p>
        </p:txBody>
      </p:sp>
      <p:sp>
        <p:nvSpPr>
          <p:cNvPr id="7" name="Text 5"/>
          <p:cNvSpPr txBox="1"/>
          <p:nvPr/>
        </p:nvSpPr>
        <p:spPr>
          <a:xfrm>
            <a:off x="640080" y="3794760"/>
            <a:ext cx="3657600" cy="777240"/>
          </a:xfrm>
          <a:prstGeom prst="rect">
            <a:avLst/>
          </a:prstGeom>
          <a:noFill/>
          <a:ln/>
        </p:spPr>
        <p:txBody>
          <a:bodyPr wrap="square" lIns="0" tIns="0" rIns="0" bIns="0" rtlCol="0" anchor="t"/>
          <a:lstStyle/>
          <a:p>
            <a:pPr algn="l" indent="0" marL="0">
              <a:buNone/>
            </a:pPr>
            <a:r>
              <a:rPr lang="en-US" sz="1000" i="1" dirty="0">
                <a:solidFill>
                  <a:srgbClr val="3A7D7B"/>
                </a:solidFill>
                <a:latin typeface="Calibri" pitchFamily="34" charset="0"/>
                <a:ea typeface="Calibri" pitchFamily="34" charset="-122"/>
                <a:cs typeface="Calibri" pitchFamily="34" charset="-120"/>
              </a:rPr>
              <a:t>Sensitivities found and reported beside the primary rate: a literal &lt;|eos|&gt; marker made 184 Grok responses malformed (12.56% to 1.06% once stripped; rate 8.22% to 7.91%). A collapsed "NoPythonpackagesrequired" token moved DeepSeek Coder V2 from 10.30% to 9.89%.</a:t>
            </a:r>
            <a:endParaRPr lang="en-US" sz="1000" dirty="0"/>
          </a:p>
        </p:txBody>
      </p:sp>
      <p:sp>
        <p:nvSpPr>
          <p:cNvPr id="8" name="Text 6"/>
          <p:cNvSpPr txBox="1"/>
          <p:nvPr/>
        </p:nvSpPr>
        <p:spPr>
          <a:xfrm>
            <a:off x="4846320" y="1188720"/>
            <a:ext cx="3840480" cy="365760"/>
          </a:xfrm>
          <a:prstGeom prst="rect">
            <a:avLst/>
          </a:prstGeom>
          <a:noFill/>
          <a:ln/>
        </p:spPr>
        <p:txBody>
          <a:bodyPr wrap="square" lIns="0" tIns="0" rIns="0" bIns="0" rtlCol="0" anchor="t"/>
          <a:lstStyle/>
          <a:p>
            <a:pPr algn="l" indent="0" marL="0">
              <a:buNone/>
            </a:pPr>
            <a:r>
              <a:rPr lang="en-US" sz="1500" b="1" dirty="0">
                <a:solidFill>
                  <a:srgbClr val="1C2331"/>
                </a:solidFill>
                <a:latin typeface="Calibri" pitchFamily="34" charset="0"/>
                <a:ea typeface="Calibri" pitchFamily="34" charset="-122"/>
                <a:cs typeface="Calibri" pitchFamily="34" charset="-120"/>
              </a:rPr>
              <a:t>Registry time changes the label space</a:t>
            </a:r>
            <a:endParaRPr lang="en-US" sz="1500" dirty="0"/>
          </a:p>
        </p:txBody>
      </p:sp>
      <p:sp>
        <p:nvSpPr>
          <p:cNvPr id="9" name="Text 7"/>
          <p:cNvSpPr txBox="1"/>
          <p:nvPr/>
        </p:nvSpPr>
        <p:spPr>
          <a:xfrm>
            <a:off x="4846320" y="1508760"/>
            <a:ext cx="1828800" cy="685800"/>
          </a:xfrm>
          <a:prstGeom prst="rect">
            <a:avLst/>
          </a:prstGeom>
          <a:noFill/>
          <a:ln/>
        </p:spPr>
        <p:txBody>
          <a:bodyPr wrap="square" lIns="0" tIns="0" rIns="0" bIns="0" rtlCol="0" anchor="b"/>
          <a:lstStyle/>
          <a:p>
            <a:pPr algn="l" indent="0" marL="0">
              <a:buNone/>
            </a:pPr>
            <a:r>
              <a:rPr lang="en-US" sz="2600" b="1" dirty="0">
                <a:solidFill>
                  <a:srgbClr val="1C2331"/>
                </a:solidFill>
                <a:latin typeface="Cambria" pitchFamily="34" charset="0"/>
                <a:ea typeface="Cambria" pitchFamily="34" charset="-122"/>
                <a:cs typeface="Cambria" pitchFamily="34" charset="-120"/>
              </a:rPr>
              <a:t>500,513</a:t>
            </a:r>
            <a:endParaRPr lang="en-US" sz="2600" dirty="0"/>
          </a:p>
        </p:txBody>
      </p:sp>
      <p:sp>
        <p:nvSpPr>
          <p:cNvPr id="10" name="Text 8"/>
          <p:cNvSpPr txBox="1"/>
          <p:nvPr/>
        </p:nvSpPr>
        <p:spPr>
          <a:xfrm>
            <a:off x="4846320" y="2221992"/>
            <a:ext cx="182880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PyPI names, frozen 2024-01-10 snapshot</a:t>
            </a:r>
            <a:endParaRPr lang="en-US" sz="1100" dirty="0"/>
          </a:p>
        </p:txBody>
      </p:sp>
      <p:sp>
        <p:nvSpPr>
          <p:cNvPr id="11" name="Text 9"/>
          <p:cNvSpPr txBox="1"/>
          <p:nvPr/>
        </p:nvSpPr>
        <p:spPr>
          <a:xfrm>
            <a:off x="6858000" y="1508760"/>
            <a:ext cx="1828800" cy="685800"/>
          </a:xfrm>
          <a:prstGeom prst="rect">
            <a:avLst/>
          </a:prstGeom>
          <a:noFill/>
          <a:ln/>
        </p:spPr>
        <p:txBody>
          <a:bodyPr wrap="square" lIns="0" tIns="0" rIns="0" bIns="0" rtlCol="0" anchor="b"/>
          <a:lstStyle/>
          <a:p>
            <a:pPr algn="l" indent="0" marL="0">
              <a:buNone/>
            </a:pPr>
            <a:r>
              <a:rPr lang="en-US" sz="2600" b="1" dirty="0">
                <a:solidFill>
                  <a:srgbClr val="E09F3E"/>
                </a:solidFill>
                <a:latin typeface="Cambria" pitchFamily="34" charset="0"/>
                <a:ea typeface="Cambria" pitchFamily="34" charset="-122"/>
                <a:cs typeface="Cambria" pitchFamily="34" charset="-120"/>
              </a:rPr>
              <a:t>869,894</a:t>
            </a:r>
            <a:endParaRPr lang="en-US" sz="2600" dirty="0"/>
          </a:p>
        </p:txBody>
      </p:sp>
      <p:sp>
        <p:nvSpPr>
          <p:cNvPr id="12" name="Text 10"/>
          <p:cNvSpPr txBox="1"/>
          <p:nvPr/>
        </p:nvSpPr>
        <p:spPr>
          <a:xfrm>
            <a:off x="6858000" y="2221992"/>
            <a:ext cx="182880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names, current 2026-08-12 snapshot</a:t>
            </a:r>
            <a:endParaRPr lang="en-US" sz="1100" dirty="0"/>
          </a:p>
        </p:txBody>
      </p:sp>
      <p:sp>
        <p:nvSpPr>
          <p:cNvPr id="13" name="Text 11"/>
          <p:cNvSpPr txBox="1"/>
          <p:nvPr/>
        </p:nvSpPr>
        <p:spPr>
          <a:xfrm>
            <a:off x="4846320" y="2560320"/>
            <a:ext cx="1828800" cy="685800"/>
          </a:xfrm>
          <a:prstGeom prst="rect">
            <a:avLst/>
          </a:prstGeom>
          <a:noFill/>
          <a:ln/>
        </p:spPr>
        <p:txBody>
          <a:bodyPr wrap="square" lIns="0" tIns="0" rIns="0" bIns="0" rtlCol="0" anchor="b"/>
          <a:lstStyle/>
          <a:p>
            <a:pPr algn="l" indent="0" marL="0">
              <a:buNone/>
            </a:pPr>
            <a:r>
              <a:rPr lang="en-US" sz="2600" b="1" dirty="0">
                <a:solidFill>
                  <a:srgbClr val="B5432F"/>
                </a:solidFill>
                <a:latin typeface="Cambria" pitchFamily="34" charset="0"/>
                <a:ea typeface="Cambria" pitchFamily="34" charset="-122"/>
                <a:cs typeface="Cambria" pitchFamily="34" charset="-120"/>
              </a:rPr>
              <a:t>8,961</a:t>
            </a:r>
            <a:endParaRPr lang="en-US" sz="2600" dirty="0"/>
          </a:p>
        </p:txBody>
      </p:sp>
      <p:sp>
        <p:nvSpPr>
          <p:cNvPr id="14" name="Text 12"/>
          <p:cNvSpPr txBox="1"/>
          <p:nvPr/>
        </p:nvSpPr>
        <p:spPr>
          <a:xfrm>
            <a:off x="4846320" y="3273552"/>
            <a:ext cx="182880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frozen-list names since deleted, including squatted stdlib names like os and json</a:t>
            </a:r>
            <a:endParaRPr lang="en-US" sz="1100" dirty="0"/>
          </a:p>
        </p:txBody>
      </p:sp>
      <p:sp>
        <p:nvSpPr>
          <p:cNvPr id="15" name="Text 13"/>
          <p:cNvSpPr txBox="1"/>
          <p:nvPr/>
        </p:nvSpPr>
        <p:spPr>
          <a:xfrm>
            <a:off x="6858000" y="2560320"/>
            <a:ext cx="1828800" cy="685800"/>
          </a:xfrm>
          <a:prstGeom prst="rect">
            <a:avLst/>
          </a:prstGeom>
          <a:noFill/>
          <a:ln/>
        </p:spPr>
        <p:txBody>
          <a:bodyPr wrap="square" lIns="0" tIns="0" rIns="0" bIns="0" rtlCol="0" anchor="b"/>
          <a:lstStyle/>
          <a:p>
            <a:pPr algn="l" indent="0" marL="0">
              <a:buNone/>
            </a:pPr>
            <a:r>
              <a:rPr lang="en-US" sz="2600" b="1" dirty="0">
                <a:solidFill>
                  <a:srgbClr val="3A7D7B"/>
                </a:solidFill>
                <a:latin typeface="Cambria" pitchFamily="34" charset="0"/>
                <a:ea typeface="Cambria" pitchFamily="34" charset="-122"/>
                <a:cs typeface="Cambria" pitchFamily="34" charset="-120"/>
              </a:rPr>
              <a:t>Dual</a:t>
            </a:r>
            <a:endParaRPr lang="en-US" sz="2600" dirty="0"/>
          </a:p>
        </p:txBody>
      </p:sp>
      <p:sp>
        <p:nvSpPr>
          <p:cNvPr id="16" name="Text 14"/>
          <p:cNvSpPr txBox="1"/>
          <p:nvPr/>
        </p:nvSpPr>
        <p:spPr>
          <a:xfrm>
            <a:off x="6858000" y="3273552"/>
            <a:ext cx="182880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scoring: flagged only if absent from both snapshots and not stdlib</a:t>
            </a:r>
            <a:endParaRPr lang="en-US" sz="1100" dirty="0"/>
          </a:p>
        </p:txBody>
      </p:sp>
      <p:sp>
        <p:nvSpPr>
          <p:cNvPr id="17" name="Text 15"/>
          <p:cNvSpPr txBox="1"/>
          <p:nvPr/>
        </p:nvSpPr>
        <p:spPr>
          <a:xfrm>
            <a:off x="4846320" y="3931920"/>
            <a:ext cx="3840480" cy="685800"/>
          </a:xfrm>
          <a:prstGeom prst="rect">
            <a:avLst/>
          </a:prstGeom>
          <a:noFill/>
          <a:ln/>
        </p:spPr>
        <p:txBody>
          <a:bodyPr wrap="square" lIns="0" tIns="0" rIns="0" bIns="0" rtlCol="0" anchor="t"/>
          <a:lstStyle/>
          <a:p>
            <a:pPr algn="l" indent="0" marL="0">
              <a:buNone/>
            </a:pPr>
            <a:r>
              <a:rPr lang="en-US" sz="1050" dirty="0">
                <a:solidFill>
                  <a:srgbClr val="2E3A4F"/>
                </a:solidFill>
                <a:latin typeface="Calibri" pitchFamily="34" charset="0"/>
                <a:ea typeface="Calibri" pitchFamily="34" charset="-122"/>
                <a:cs typeface="Calibri" pitchFamily="34" charset="-120"/>
              </a:rPr>
              <a:t>The primary metric is therefore named the unregistered-PyPI recommendation rate, not simply a hallucination rate. Some flagged names are real apt, npm, or system tools that are not installable from PyPI.</a:t>
            </a:r>
            <a:endParaRPr lang="en-US" sz="1050" dirty="0"/>
          </a:p>
        </p:txBody>
      </p:sp>
      <p:sp>
        <p:nvSpPr>
          <p:cNvPr id="18" name="Text 16"/>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Parser validation: Experiments/parser_v2_validation.json. Audit and sensitivities: Experiments/CAMPAIGN4_POST_ANALYSIS.md.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RQ1  ·  HISTORICAL REPLICATION</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Ordering reproduces; exact DeepSeek does not</a:t>
            </a:r>
            <a:endParaRPr lang="en-US" sz="2800" dirty="0"/>
          </a:p>
        </p:txBody>
      </p:sp>
      <p:graphicFrame>
        <p:nvGraphicFramePr>
          <p:cNvPr id="4" name="Chart 0" descr=""/>
          <p:cNvGraphicFramePr/>
          <p:nvPr/>
        </p:nvGraphicFramePr>
        <p:xfrm>
          <a:off x="36576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097280"/>
            <a:ext cx="2926080" cy="3520440"/>
          </a:xfrm>
          <a:prstGeom prst="roundRect">
            <a:avLst>
              <a:gd name="adj" fmla="val 2500"/>
            </a:avLst>
          </a:prstGeom>
          <a:solidFill>
            <a:srgbClr val="F2F4F7"/>
          </a:solidFill>
          <a:ln w="12700">
            <a:solidFill>
              <a:srgbClr val="F2F4F7"/>
            </a:solidFill>
            <a:prstDash val="solid"/>
          </a:ln>
        </p:spPr>
      </p:sp>
      <p:sp>
        <p:nvSpPr>
          <p:cNvPr id="6" name="Text 3"/>
          <p:cNvSpPr txBox="1"/>
          <p:nvPr/>
        </p:nvSpPr>
        <p:spPr>
          <a:xfrm>
            <a:off x="5943600" y="1234440"/>
            <a:ext cx="2651760" cy="320040"/>
          </a:xfrm>
          <a:prstGeom prst="rect">
            <a:avLst/>
          </a:prstGeom>
          <a:noFill/>
          <a:ln/>
        </p:spPr>
        <p:txBody>
          <a:bodyPr wrap="square" lIns="0" tIns="0" rIns="0" bIns="0" rtlCol="0" anchor="t"/>
          <a:lstStyle/>
          <a:p>
            <a:pPr algn="l" indent="0" marL="0">
              <a:buNone/>
            </a:pPr>
            <a:r>
              <a:rPr lang="en-US" sz="1400" b="1" dirty="0">
                <a:solidFill>
                  <a:srgbClr val="1C2331"/>
                </a:solidFill>
                <a:latin typeface="Calibri" pitchFamily="34" charset="0"/>
                <a:ea typeface="Calibri" pitchFamily="34" charset="-122"/>
                <a:cs typeface="Calibri" pitchFamily="34" charset="-120"/>
              </a:rPr>
              <a:t>What reproduces</a:t>
            </a:r>
            <a:endParaRPr lang="en-US" sz="1400" dirty="0"/>
          </a:p>
        </p:txBody>
      </p:sp>
      <p:sp>
        <p:nvSpPr>
          <p:cNvPr id="7" name="Text 4"/>
          <p:cNvSpPr txBox="1"/>
          <p:nvPr/>
        </p:nvSpPr>
        <p:spPr>
          <a:xfrm>
            <a:off x="5943600" y="1572768"/>
            <a:ext cx="2651760" cy="132588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CodeLlama seed mean 24.55% vs published 26.12%; every generic-parser interval contains the paper value</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Ordering holds at every seed</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Seed spread is only 0.5 to 0.6 points, so regeneration noise is small</a:t>
            </a:r>
            <a:endParaRPr lang="en-US" sz="1050" dirty="0"/>
          </a:p>
        </p:txBody>
      </p:sp>
      <p:sp>
        <p:nvSpPr>
          <p:cNvPr id="8" name="Text 5"/>
          <p:cNvSpPr txBox="1"/>
          <p:nvPr/>
        </p:nvSpPr>
        <p:spPr>
          <a:xfrm>
            <a:off x="5943600" y="2926080"/>
            <a:ext cx="2651760" cy="320040"/>
          </a:xfrm>
          <a:prstGeom prst="rect">
            <a:avLst/>
          </a:prstGeom>
          <a:noFill/>
          <a:ln/>
        </p:spPr>
        <p:txBody>
          <a:bodyPr wrap="square" lIns="0" tIns="0" rIns="0" bIns="0" rtlCol="0" anchor="t"/>
          <a:lstStyle/>
          <a:p>
            <a:pPr algn="l" indent="0" marL="0">
              <a:buNone/>
            </a:pPr>
            <a:r>
              <a:rPr lang="en-US" sz="1400" b="1" dirty="0">
                <a:solidFill>
                  <a:srgbClr val="B5432F"/>
                </a:solidFill>
                <a:latin typeface="Calibri" pitchFamily="34" charset="0"/>
                <a:ea typeface="Calibri" pitchFamily="34" charset="-122"/>
                <a:cs typeface="Calibri" pitchFamily="34" charset="-120"/>
              </a:rPr>
              <a:t>What does not</a:t>
            </a:r>
            <a:endParaRPr lang="en-US" sz="1400" dirty="0"/>
          </a:p>
        </p:txBody>
      </p:sp>
      <p:sp>
        <p:nvSpPr>
          <p:cNvPr id="9" name="Text 6"/>
          <p:cNvSpPr txBox="1"/>
          <p:nvPr/>
        </p:nvSpPr>
        <p:spPr>
          <a:xfrm>
            <a:off x="5943600" y="3264408"/>
            <a:ext cx="2651760" cy="132588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Under DeepSeek's historical family parser, all three seed intervals (about 11.7 to 15.4) exclude the published 16.61%</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A consistent 1.5 to 2 point low bias across both models points at checkpoint, quantization, or template provenance that 2024 artifacts cannot recover</a:t>
            </a:r>
            <a:endParaRPr lang="en-US" sz="1050" dirty="0"/>
          </a:p>
        </p:txBody>
      </p:sp>
      <p:sp>
        <p:nvSpPr>
          <p:cNvPr id="10" name="Text 7"/>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Track A: 3 seeds × 2 models on one frozen 200-prompt-per-dataset subset. Source: REPLICATION.md Part II §B, campaign4_results.json.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RQ3  ·  CAP SENSITIVITY</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The suspected cap effect does not reproduce</a:t>
            </a:r>
            <a:endParaRPr lang="en-US" sz="2800" dirty="0"/>
          </a:p>
        </p:txBody>
      </p:sp>
      <p:graphicFrame>
        <p:nvGraphicFramePr>
          <p:cNvPr id="4" name="Chart 0" descr=""/>
          <p:cNvGraphicFramePr/>
          <p:nvPr/>
        </p:nvGraphicFramePr>
        <p:xfrm>
          <a:off x="365760" y="1051560"/>
          <a:ext cx="4937760" cy="3611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0" y="1143000"/>
            <a:ext cx="3017520" cy="320040"/>
          </a:xfrm>
          <a:prstGeom prst="rect">
            <a:avLst/>
          </a:prstGeom>
          <a:noFill/>
          <a:ln/>
        </p:spPr>
        <p:txBody>
          <a:bodyPr wrap="square" lIns="0" tIns="0" rIns="0" bIns="0" rtlCol="0" anchor="t"/>
          <a:lstStyle/>
          <a:p>
            <a:pPr algn="l" indent="0" marL="0">
              <a:buNone/>
            </a:pPr>
            <a:r>
              <a:rPr lang="en-US" sz="1400" b="1" dirty="0">
                <a:solidFill>
                  <a:srgbClr val="1C2331"/>
                </a:solidFill>
                <a:latin typeface="Calibri" pitchFamily="34" charset="0"/>
                <a:ea typeface="Calibri" pitchFamily="34" charset="-122"/>
                <a:cs typeface="Calibri" pitchFamily="34" charset="-120"/>
              </a:rPr>
              <a:t>Design</a:t>
            </a:r>
            <a:endParaRPr lang="en-US" sz="1400" dirty="0"/>
          </a:p>
        </p:txBody>
      </p:sp>
      <p:sp>
        <p:nvSpPr>
          <p:cNvPr id="6" name="Text 3"/>
          <p:cNvSpPr txBox="1"/>
          <p:nvPr/>
        </p:nvSpPr>
        <p:spPr>
          <a:xfrm>
            <a:off x="5669280" y="1481328"/>
            <a:ext cx="3017520" cy="118872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Temperature 0, seeded, one worker, counterbalanced caps, prefix-verified pairing at the prompt level</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Same code, same prompts; only the package-response cap varies</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Dataset-stratified paired bootstrap intervals</a:t>
            </a:r>
            <a:endParaRPr lang="en-US" sz="1050" dirty="0"/>
          </a:p>
        </p:txBody>
      </p:sp>
      <p:sp>
        <p:nvSpPr>
          <p:cNvPr id="7" name="Text 4"/>
          <p:cNvSpPr txBox="1"/>
          <p:nvPr/>
        </p:nvSpPr>
        <p:spPr>
          <a:xfrm>
            <a:off x="5669280" y="2743200"/>
            <a:ext cx="3017520" cy="320040"/>
          </a:xfrm>
          <a:prstGeom prst="rect">
            <a:avLst/>
          </a:prstGeom>
          <a:noFill/>
          <a:ln/>
        </p:spPr>
        <p:txBody>
          <a:bodyPr wrap="square" lIns="0" tIns="0" rIns="0" bIns="0" rtlCol="0" anchor="t"/>
          <a:lstStyle/>
          <a:p>
            <a:pPr algn="l" indent="0" marL="0">
              <a:buNone/>
            </a:pPr>
            <a:r>
              <a:rPr lang="en-US" sz="1400" b="1" dirty="0">
                <a:solidFill>
                  <a:srgbClr val="1C2331"/>
                </a:solidFill>
                <a:latin typeface="Calibri" pitchFamily="34" charset="0"/>
                <a:ea typeface="Calibri" pitchFamily="34" charset="-122"/>
                <a:cs typeface="Calibri" pitchFamily="34" charset="-120"/>
              </a:rPr>
              <a:t>Result</a:t>
            </a:r>
            <a:endParaRPr lang="en-US" sz="1400" dirty="0"/>
          </a:p>
        </p:txBody>
      </p:sp>
      <p:sp>
        <p:nvSpPr>
          <p:cNvPr id="8" name="Text 5"/>
          <p:cNvSpPr txBox="1"/>
          <p:nvPr/>
        </p:nvSpPr>
        <p:spPr>
          <a:xfrm>
            <a:off x="5669280" y="3081528"/>
            <a:ext cx="3017520" cy="155448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Coder V2 is flat within 0.38 points across a 32× cap range; every paired delta vs 2048 is at most 0.33 points</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6.7B is hump-shaped, not monotone; every paired interval includes zero</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The earlier +11.5 point "cap effect" decomposed into format-drift contamination of a permissive parser</a:t>
            </a:r>
            <a:endParaRPr lang="en-US" sz="1050" dirty="0"/>
          </a:p>
        </p:txBody>
      </p:sp>
      <p:sp>
        <p:nvSpPr>
          <p:cNvPr id="9" name="Text 6"/>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Supported claim: the association is not reproduced as systematic or monotone. Not supported: causal elimination or formal equivalence. Source: cap_diagnostic_summary.json.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RQ4  ·  MODERN MODELS</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Six current models under one frozen instrument</a:t>
            </a:r>
            <a:endParaRPr lang="en-US" sz="2800" dirty="0"/>
          </a:p>
        </p:txBody>
      </p:sp>
      <p:graphicFrame>
        <p:nvGraphicFramePr>
          <p:cNvPr id="4" name="Chart 0" descr=""/>
          <p:cNvGraphicFramePr/>
          <p:nvPr/>
        </p:nvGraphicFramePr>
        <p:xfrm>
          <a:off x="365760" y="1051560"/>
          <a:ext cx="420624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754880" y="1097280"/>
          <a:ext cx="3931920" cy="914400"/>
        </p:xfrm>
        <a:graphic>
          <a:graphicData uri="http://schemas.openxmlformats.org/drawingml/2006/table">
            <a:tbl>
              <a:tblPr/>
              <a:tblGrid>
                <a:gridCol w="1234440"/>
                <a:gridCol w="502920"/>
                <a:gridCol w="822960"/>
                <a:gridCol w="457200"/>
                <a:gridCol w="457200"/>
                <a:gridCol w="457200"/>
              </a:tblGrid>
              <a:tr h="24688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Model</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Rate %</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95% CI</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 %</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Malf. %</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Top-3 %</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r>
              <a:tr h="246888">
                <a:tc>
                  <a:txBody>
                    <a:bodyPr/>
                    <a:lstStyle/>
                    <a:p>
                      <a:pPr algn="l" indent="0" marL="0">
                        <a:buNone/>
                      </a:pPr>
                      <a:r>
                        <a:rPr lang="en-US" sz="900" dirty="0">
                          <a:solidFill>
                            <a:srgbClr val="2E3A4F"/>
                          </a:solidFill>
                          <a:latin typeface="Calibri" pitchFamily="34" charset="0"/>
                          <a:ea typeface="Calibri" pitchFamily="34" charset="-122"/>
                          <a:cs typeface="Calibri" pitchFamily="34" charset="-120"/>
                        </a:rPr>
                        <a:t>Claude Opus 5</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2E3A4F"/>
                          </a:solidFill>
                          <a:latin typeface="Calibri" pitchFamily="34" charset="0"/>
                          <a:ea typeface="Calibri" pitchFamily="34" charset="-122"/>
                          <a:cs typeface="Calibri" pitchFamily="34" charset="-120"/>
                        </a:rPr>
                        <a:t>1.31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1.04–1.63</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12.1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3.75</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10.7</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r h="246888">
                <a:tc>
                  <a:txBody>
                    <a:bodyPr/>
                    <a:lstStyle/>
                    <a:p>
                      <a:pPr algn="l" indent="0" marL="0">
                        <a:buNone/>
                      </a:pPr>
                      <a:r>
                        <a:rPr lang="en-US" sz="900" dirty="0">
                          <a:solidFill>
                            <a:srgbClr val="2E3A4F"/>
                          </a:solidFill>
                          <a:latin typeface="Calibri" pitchFamily="34" charset="0"/>
                          <a:ea typeface="Calibri" pitchFamily="34" charset="-122"/>
                          <a:cs typeface="Calibri" pitchFamily="34" charset="-120"/>
                        </a:rPr>
                        <a:t>GPT-5.2</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b="1" dirty="0">
                          <a:solidFill>
                            <a:srgbClr val="2E3A4F"/>
                          </a:solidFill>
                          <a:latin typeface="Calibri" pitchFamily="34" charset="0"/>
                          <a:ea typeface="Calibri" pitchFamily="34" charset="-122"/>
                          <a:cs typeface="Calibri" pitchFamily="34" charset="-120"/>
                        </a:rPr>
                        <a:t>1.88</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1.48–2.30</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12.1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0.56</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8.1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r>
              <a:tr h="246888">
                <a:tc>
                  <a:txBody>
                    <a:bodyPr/>
                    <a:lstStyle/>
                    <a:p>
                      <a:pPr algn="l" indent="0" marL="0">
                        <a:buNone/>
                      </a:pPr>
                      <a:r>
                        <a:rPr lang="en-US" sz="900" dirty="0">
                          <a:solidFill>
                            <a:srgbClr val="2E3A4F"/>
                          </a:solidFill>
                          <a:latin typeface="Calibri" pitchFamily="34" charset="0"/>
                          <a:ea typeface="Calibri" pitchFamily="34" charset="-122"/>
                          <a:cs typeface="Calibri" pitchFamily="34" charset="-120"/>
                        </a:rPr>
                        <a:t>gpt-oss 20B</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2E3A4F"/>
                          </a:solidFill>
                          <a:latin typeface="Calibri" pitchFamily="34" charset="0"/>
                          <a:ea typeface="Calibri" pitchFamily="34" charset="-122"/>
                          <a:cs typeface="Calibri" pitchFamily="34" charset="-120"/>
                        </a:rPr>
                        <a:t>2.15</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1.75–2.58</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13.1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0.44</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5.2</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r h="246888">
                <a:tc>
                  <a:txBody>
                    <a:bodyPr/>
                    <a:lstStyle/>
                    <a:p>
                      <a:pPr algn="l" indent="0" marL="0">
                        <a:buNone/>
                      </a:pPr>
                      <a:r>
                        <a:rPr lang="en-US" sz="900" dirty="0">
                          <a:solidFill>
                            <a:srgbClr val="2E3A4F"/>
                          </a:solidFill>
                          <a:latin typeface="Calibri" pitchFamily="34" charset="0"/>
                          <a:ea typeface="Calibri" pitchFamily="34" charset="-122"/>
                          <a:cs typeface="Calibri" pitchFamily="34" charset="-120"/>
                        </a:rPr>
                        <a:t>Grok 4.6</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b="1" dirty="0">
                          <a:solidFill>
                            <a:srgbClr val="2E3A4F"/>
                          </a:solidFill>
                          <a:latin typeface="Calibri" pitchFamily="34" charset="0"/>
                          <a:ea typeface="Calibri" pitchFamily="34" charset="-122"/>
                          <a:cs typeface="Calibri" pitchFamily="34" charset="-120"/>
                        </a:rPr>
                        <a:t>8.22</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1.54–18.20</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5.5</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12.56</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82.9</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r>
              <a:tr h="246888">
                <a:tc>
                  <a:txBody>
                    <a:bodyPr/>
                    <a:lstStyle/>
                    <a:p>
                      <a:pPr algn="l" indent="0" marL="0">
                        <a:buNone/>
                      </a:pPr>
                      <a:r>
                        <a:rPr lang="en-US" sz="900" dirty="0">
                          <a:solidFill>
                            <a:srgbClr val="2E3A4F"/>
                          </a:solidFill>
                          <a:latin typeface="Calibri" pitchFamily="34" charset="0"/>
                          <a:ea typeface="Calibri" pitchFamily="34" charset="-122"/>
                          <a:cs typeface="Calibri" pitchFamily="34" charset="-120"/>
                        </a:rPr>
                        <a:t>DeepSeek Coder V2</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2E3A4F"/>
                          </a:solidFill>
                          <a:latin typeface="Calibri" pitchFamily="34" charset="0"/>
                          <a:ea typeface="Calibri" pitchFamily="34" charset="-122"/>
                          <a:cs typeface="Calibri" pitchFamily="34" charset="-120"/>
                        </a:rPr>
                        <a:t>10.30</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8.76–11.93</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18.25</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r h="246888">
                <a:tc>
                  <a:txBody>
                    <a:bodyPr/>
                    <a:lstStyle/>
                    <a:p>
                      <a:pPr algn="l" indent="0" marL="0">
                        <a:buNone/>
                      </a:pPr>
                      <a:r>
                        <a:rPr lang="en-US" sz="900" dirty="0">
                          <a:solidFill>
                            <a:srgbClr val="2E3A4F"/>
                          </a:solidFill>
                          <a:latin typeface="Calibri" pitchFamily="34" charset="0"/>
                          <a:ea typeface="Calibri" pitchFamily="34" charset="-122"/>
                          <a:cs typeface="Calibri" pitchFamily="34" charset="-120"/>
                        </a:rPr>
                        <a:t>DeepSeek V4 Flash</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b="1" dirty="0">
                          <a:solidFill>
                            <a:srgbClr val="2E3A4F"/>
                          </a:solidFill>
                          <a:latin typeface="Calibri" pitchFamily="34" charset="0"/>
                          <a:ea typeface="Calibri" pitchFamily="34" charset="-122"/>
                          <a:cs typeface="Calibri" pitchFamily="34" charset="-120"/>
                        </a:rPr>
                        <a:t>17.91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5.72–29.99</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18.1</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10.38</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00" dirty="0">
                          <a:solidFill>
                            <a:srgbClr val="2E3A4F"/>
                          </a:solidFill>
                          <a:latin typeface="Calibri" pitchFamily="34" charset="0"/>
                          <a:ea typeface="Calibri" pitchFamily="34" charset="-122"/>
                          <a:cs typeface="Calibri" pitchFamily="34" charset="-120"/>
                        </a:rPr>
                        <a:t>72.4</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r>
            </a:tbl>
          </a:graphicData>
        </a:graphic>
      </p:graphicFrame>
      <p:sp>
        <p:nvSpPr>
          <p:cNvPr id="6" name="Text 2"/>
          <p:cNvSpPr txBox="1"/>
          <p:nvPr/>
        </p:nvSpPr>
        <p:spPr>
          <a:xfrm>
            <a:off x="4754880" y="3063240"/>
            <a:ext cx="3931920" cy="868680"/>
          </a:xfrm>
          <a:prstGeom prst="rect">
            <a:avLst/>
          </a:prstGeom>
          <a:noFill/>
          <a:ln/>
        </p:spPr>
        <p:txBody>
          <a:bodyPr wrap="square" lIns="0" tIns="0" rIns="0" bIns="0" rtlCol="0" anchor="t"/>
          <a:lstStyle/>
          <a:p>
            <a:pPr algn="l" indent="0" marL="0">
              <a:buNone/>
            </a:pPr>
            <a:r>
              <a:rPr lang="en-US" sz="1000" dirty="0">
                <a:solidFill>
                  <a:srgbClr val="2E3A4F"/>
                </a:solidFill>
                <a:latin typeface="Calibri" pitchFamily="34" charset="0"/>
                <a:ea typeface="Calibri" pitchFamily="34" charset="-122"/>
                <a:cs typeface="Calibri" pitchFamily="34" charset="-120"/>
              </a:rPr>
              <a:t>Never publish the rate without coverage. Grok's wide interval and 82.9% top-three share are the first sign that the average is hiding something; DeepSeek Coder V2's 18.25% malformed rate means its denominator is smaller than its neighbors'.</a:t>
            </a:r>
            <a:endParaRPr lang="en-US" sz="1000" dirty="0"/>
          </a:p>
        </p:txBody>
      </p:sp>
      <p:sp>
        <p:nvSpPr>
          <p:cNvPr id="7" name="Text 3"/>
          <p:cNvSpPr txBox="1"/>
          <p:nvPr/>
        </p:nvSpPr>
        <p:spPr>
          <a:xfrm>
            <a:off x="4754880" y="3977640"/>
            <a:ext cx="3931920" cy="685800"/>
          </a:xfrm>
          <a:prstGeom prst="rect">
            <a:avLst/>
          </a:prstGeom>
          <a:noFill/>
          <a:ln/>
        </p:spPr>
        <p:txBody>
          <a:bodyPr wrap="square" lIns="0" tIns="0" rIns="0" bIns="0" rtlCol="0" anchor="t"/>
          <a:lstStyle/>
          <a:p>
            <a:pPr algn="l" indent="0" marL="0">
              <a:buNone/>
            </a:pPr>
            <a:r>
              <a:rPr lang="en-US" sz="950" i="1" dirty="0">
                <a:solidFill>
                  <a:srgbClr val="3A7D7B"/>
                </a:solidFill>
                <a:latin typeface="Calibri" pitchFamily="34" charset="0"/>
                <a:ea typeface="Calibri" pitchFamily="34" charset="-122"/>
                <a:cs typeface="Calibri" pitchFamily="34" charset="-120"/>
              </a:rPr>
              <a:t>Do not call Opus, GPT-5.2, and gpt-oss a "frontier trio": gpt-oss is a local 20B model, and six purposive cells are not a representative sample of frontier or local models.</a:t>
            </a:r>
            <a:endParaRPr lang="en-US" sz="950" dirty="0"/>
          </a:p>
        </p:txBody>
      </p:sp>
      <p:sp>
        <p:nvSpPr>
          <p:cNvPr id="8" name="Text 4"/>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800 prompts, 1,600 package responses per cell, n=200 per dataset. Source: campaign4_results.json and CAMPAIGN4_POST_ANALYSIS.md.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RQ5  ·  FAILURE SHAPE  ·  SIGNATURE RESULT</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Similar averages, three different kinds of risk</a:t>
            </a:r>
            <a:endParaRPr lang="en-US" sz="2800" dirty="0"/>
          </a:p>
        </p:txBody>
      </p:sp>
      <p:graphicFrame>
        <p:nvGraphicFramePr>
          <p:cNvPr id="4" name="Chart 0" descr=""/>
          <p:cNvGraphicFramePr/>
          <p:nvPr/>
        </p:nvGraphicFramePr>
        <p:xfrm>
          <a:off x="365760" y="1051560"/>
          <a:ext cx="4754880" cy="2514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349240" y="1097280"/>
            <a:ext cx="3337560" cy="1097280"/>
          </a:xfrm>
          <a:prstGeom prst="roundRect">
            <a:avLst>
              <a:gd name="adj" fmla="val 6667"/>
            </a:avLst>
          </a:prstGeom>
          <a:solidFill>
            <a:srgbClr val="F2F4F7"/>
          </a:solidFill>
          <a:ln w="12700">
            <a:solidFill>
              <a:srgbClr val="F2F4F7"/>
            </a:solidFill>
            <a:prstDash val="solid"/>
          </a:ln>
        </p:spPr>
      </p:sp>
      <p:sp>
        <p:nvSpPr>
          <p:cNvPr id="6" name="Shape 3"/>
          <p:cNvSpPr/>
          <p:nvPr/>
        </p:nvSpPr>
        <p:spPr>
          <a:xfrm>
            <a:off x="5486400" y="1234440"/>
            <a:ext cx="201168" cy="201168"/>
          </a:xfrm>
          <a:prstGeom prst="ellipse">
            <a:avLst/>
          </a:prstGeom>
          <a:solidFill>
            <a:srgbClr val="3A7D7B"/>
          </a:solidFill>
          <a:ln w="12700">
            <a:solidFill>
              <a:srgbClr val="3A7D7B"/>
            </a:solidFill>
            <a:prstDash val="solid"/>
          </a:ln>
        </p:spPr>
      </p:sp>
      <p:sp>
        <p:nvSpPr>
          <p:cNvPr id="7" name="Text 4"/>
          <p:cNvSpPr txBox="1"/>
          <p:nvPr/>
        </p:nvSpPr>
        <p:spPr>
          <a:xfrm>
            <a:off x="5760720" y="1170432"/>
            <a:ext cx="2834640" cy="292608"/>
          </a:xfrm>
          <a:prstGeom prst="rect">
            <a:avLst/>
          </a:prstGeom>
          <a:noFill/>
          <a:ln/>
        </p:spPr>
        <p:txBody>
          <a:bodyPr wrap="square" lIns="0" tIns="0" rIns="0" bIns="0" rtlCol="0" anchor="t"/>
          <a:lstStyle/>
          <a:p>
            <a:pPr algn="l" indent="0" marL="0">
              <a:buNone/>
            </a:pPr>
            <a:r>
              <a:rPr lang="en-US" sz="1250" b="1" dirty="0">
                <a:solidFill>
                  <a:srgbClr val="1C2331"/>
                </a:solidFill>
                <a:latin typeface="Calibri" pitchFamily="34" charset="0"/>
                <a:ea typeface="Calibri" pitchFamily="34" charset="-122"/>
                <a:cs typeface="Calibri" pitchFamily="34" charset="-120"/>
              </a:rPr>
              <a:t>Low, diffuse</a:t>
            </a:r>
            <a:endParaRPr lang="en-US" sz="1250" dirty="0"/>
          </a:p>
        </p:txBody>
      </p:sp>
      <p:sp>
        <p:nvSpPr>
          <p:cNvPr id="8" name="Text 5"/>
          <p:cNvSpPr txBox="1"/>
          <p:nvPr/>
        </p:nvSpPr>
        <p:spPr>
          <a:xfrm>
            <a:off x="5760720" y="1426464"/>
            <a:ext cx="2834640" cy="228600"/>
          </a:xfrm>
          <a:prstGeom prst="rect">
            <a:avLst/>
          </a:prstGeom>
          <a:noFill/>
          <a:ln/>
        </p:spPr>
        <p:txBody>
          <a:bodyPr wrap="square" lIns="0" tIns="0" rIns="0" bIns="0" rtlCol="0" anchor="t"/>
          <a:lstStyle/>
          <a:p>
            <a:pPr algn="l" indent="0" marL="0">
              <a:buNone/>
            </a:pPr>
            <a:r>
              <a:rPr lang="en-US" sz="950" b="1" dirty="0">
                <a:solidFill>
                  <a:srgbClr val="3A7D7B"/>
                </a:solidFill>
                <a:latin typeface="Calibri" pitchFamily="34" charset="0"/>
                <a:ea typeface="Calibri" pitchFamily="34" charset="-122"/>
                <a:cs typeface="Calibri" pitchFamily="34" charset="-120"/>
              </a:rPr>
              <a:t>Opus 5, GPT-5.2, gpt-oss 20B</a:t>
            </a:r>
            <a:endParaRPr lang="en-US" sz="950" dirty="0"/>
          </a:p>
        </p:txBody>
      </p:sp>
      <p:sp>
        <p:nvSpPr>
          <p:cNvPr id="9" name="Text 6"/>
          <p:cNvSpPr txBox="1"/>
          <p:nvPr/>
        </p:nvSpPr>
        <p:spPr>
          <a:xfrm>
            <a:off x="5486400" y="1645920"/>
            <a:ext cx="3108960" cy="548640"/>
          </a:xfrm>
          <a:prstGeom prst="rect">
            <a:avLst/>
          </a:prstGeom>
          <a:noFill/>
          <a:ln/>
        </p:spPr>
        <p:txBody>
          <a:bodyPr wrap="square" lIns="0" tIns="0" rIns="0" bIns="0" rtlCol="0" anchor="t"/>
          <a:lstStyle/>
          <a:p>
            <a:pPr algn="l" indent="0" marL="0">
              <a:buNone/>
            </a:pPr>
            <a:r>
              <a:rPr lang="en-US" sz="900" dirty="0">
                <a:solidFill>
                  <a:srgbClr val="2E3A4F"/>
                </a:solidFill>
                <a:latin typeface="Calibri" pitchFamily="34" charset="0"/>
                <a:ea typeface="Calibri" pitchFamily="34" charset="-122"/>
                <a:cs typeface="Calibri" pitchFamily="34" charset="-120"/>
              </a:rPr>
              <a:t>Removing the three worst responses moves the rate by only 0.10 to 0.13 points. Risk is routine and spread thin: a registry check at install time handles it.</a:t>
            </a:r>
            <a:endParaRPr lang="en-US" sz="900" dirty="0"/>
          </a:p>
        </p:txBody>
      </p:sp>
      <p:sp>
        <p:nvSpPr>
          <p:cNvPr id="10" name="Shape 7"/>
          <p:cNvSpPr/>
          <p:nvPr/>
        </p:nvSpPr>
        <p:spPr>
          <a:xfrm>
            <a:off x="5349240" y="2286000"/>
            <a:ext cx="3337560" cy="1097280"/>
          </a:xfrm>
          <a:prstGeom prst="roundRect">
            <a:avLst>
              <a:gd name="adj" fmla="val 6667"/>
            </a:avLst>
          </a:prstGeom>
          <a:solidFill>
            <a:srgbClr val="F2F4F7"/>
          </a:solidFill>
          <a:ln w="12700">
            <a:solidFill>
              <a:srgbClr val="F2F4F7"/>
            </a:solidFill>
            <a:prstDash val="solid"/>
          </a:ln>
        </p:spPr>
      </p:sp>
      <p:sp>
        <p:nvSpPr>
          <p:cNvPr id="11" name="Shape 8"/>
          <p:cNvSpPr/>
          <p:nvPr/>
        </p:nvSpPr>
        <p:spPr>
          <a:xfrm>
            <a:off x="5486400" y="2423160"/>
            <a:ext cx="201168" cy="201168"/>
          </a:xfrm>
          <a:prstGeom prst="ellipse">
            <a:avLst/>
          </a:prstGeom>
          <a:solidFill>
            <a:srgbClr val="B5432F"/>
          </a:solidFill>
          <a:ln w="12700">
            <a:solidFill>
              <a:srgbClr val="B5432F"/>
            </a:solidFill>
            <a:prstDash val="solid"/>
          </a:ln>
        </p:spPr>
      </p:sp>
      <p:sp>
        <p:nvSpPr>
          <p:cNvPr id="12" name="Text 9"/>
          <p:cNvSpPr txBox="1"/>
          <p:nvPr/>
        </p:nvSpPr>
        <p:spPr>
          <a:xfrm>
            <a:off x="5760720" y="2359152"/>
            <a:ext cx="2834640" cy="292608"/>
          </a:xfrm>
          <a:prstGeom prst="rect">
            <a:avLst/>
          </a:prstGeom>
          <a:noFill/>
          <a:ln/>
        </p:spPr>
        <p:txBody>
          <a:bodyPr wrap="square" lIns="0" tIns="0" rIns="0" bIns="0" rtlCol="0" anchor="t"/>
          <a:lstStyle/>
          <a:p>
            <a:pPr algn="l" indent="0" marL="0">
              <a:buNone/>
            </a:pPr>
            <a:r>
              <a:rPr lang="en-US" sz="1250" b="1" dirty="0">
                <a:solidFill>
                  <a:srgbClr val="1C2331"/>
                </a:solidFill>
                <a:latin typeface="Calibri" pitchFamily="34" charset="0"/>
                <a:ea typeface="Calibri" pitchFamily="34" charset="-122"/>
                <a:cs typeface="Calibri" pitchFamily="34" charset="-120"/>
              </a:rPr>
              <a:t>High, diffuse</a:t>
            </a:r>
            <a:endParaRPr lang="en-US" sz="1250" dirty="0"/>
          </a:p>
        </p:txBody>
      </p:sp>
      <p:sp>
        <p:nvSpPr>
          <p:cNvPr id="13" name="Text 10"/>
          <p:cNvSpPr txBox="1"/>
          <p:nvPr/>
        </p:nvSpPr>
        <p:spPr>
          <a:xfrm>
            <a:off x="5760720" y="2615184"/>
            <a:ext cx="2834640" cy="228600"/>
          </a:xfrm>
          <a:prstGeom prst="rect">
            <a:avLst/>
          </a:prstGeom>
          <a:noFill/>
          <a:ln/>
        </p:spPr>
        <p:txBody>
          <a:bodyPr wrap="square" lIns="0" tIns="0" rIns="0" bIns="0" rtlCol="0" anchor="t"/>
          <a:lstStyle/>
          <a:p>
            <a:pPr algn="l" indent="0" marL="0">
              <a:buNone/>
            </a:pPr>
            <a:r>
              <a:rPr lang="en-US" sz="950" b="1" dirty="0">
                <a:solidFill>
                  <a:srgbClr val="B5432F"/>
                </a:solidFill>
                <a:latin typeface="Calibri" pitchFamily="34" charset="0"/>
                <a:ea typeface="Calibri" pitchFamily="34" charset="-122"/>
                <a:cs typeface="Calibri" pitchFamily="34" charset="-120"/>
              </a:rPr>
              <a:t>DeepSeek Coder V2 16B</a:t>
            </a:r>
            <a:endParaRPr lang="en-US" sz="950" dirty="0"/>
          </a:p>
        </p:txBody>
      </p:sp>
      <p:sp>
        <p:nvSpPr>
          <p:cNvPr id="14" name="Text 11"/>
          <p:cNvSpPr txBox="1"/>
          <p:nvPr/>
        </p:nvSpPr>
        <p:spPr>
          <a:xfrm>
            <a:off x="5486400" y="2834640"/>
            <a:ext cx="3108960" cy="548640"/>
          </a:xfrm>
          <a:prstGeom prst="rect">
            <a:avLst/>
          </a:prstGeom>
          <a:noFill/>
          <a:ln/>
        </p:spPr>
        <p:txBody>
          <a:bodyPr wrap="square" lIns="0" tIns="0" rIns="0" bIns="0" rtlCol="0" anchor="t"/>
          <a:lstStyle/>
          <a:p>
            <a:pPr algn="l" indent="0" marL="0">
              <a:buNone/>
            </a:pPr>
            <a:r>
              <a:rPr lang="en-US" sz="900" dirty="0">
                <a:solidFill>
                  <a:srgbClr val="2E3A4F"/>
                </a:solidFill>
                <a:latin typeface="Calibri" pitchFamily="34" charset="0"/>
                <a:ea typeface="Calibri" pitchFamily="34" charset="-122"/>
                <a:cs typeface="Calibri" pitchFamily="34" charset="-120"/>
              </a:rPr>
              <a:t>Top three responses supply just 3.98% of unregistered names. Removing them leaves 9.93%. The problem is everywhere, not in a tail.</a:t>
            </a:r>
            <a:endParaRPr lang="en-US" sz="900" dirty="0"/>
          </a:p>
        </p:txBody>
      </p:sp>
      <p:sp>
        <p:nvSpPr>
          <p:cNvPr id="15" name="Shape 12"/>
          <p:cNvSpPr/>
          <p:nvPr/>
        </p:nvSpPr>
        <p:spPr>
          <a:xfrm>
            <a:off x="5349240" y="3474720"/>
            <a:ext cx="3337560" cy="1097280"/>
          </a:xfrm>
          <a:prstGeom prst="roundRect">
            <a:avLst>
              <a:gd name="adj" fmla="val 6667"/>
            </a:avLst>
          </a:prstGeom>
          <a:solidFill>
            <a:srgbClr val="F2F4F7"/>
          </a:solidFill>
          <a:ln w="12700">
            <a:solidFill>
              <a:srgbClr val="F2F4F7"/>
            </a:solidFill>
            <a:prstDash val="solid"/>
          </a:ln>
        </p:spPr>
      </p:sp>
      <p:sp>
        <p:nvSpPr>
          <p:cNvPr id="16" name="Shape 13"/>
          <p:cNvSpPr/>
          <p:nvPr/>
        </p:nvSpPr>
        <p:spPr>
          <a:xfrm>
            <a:off x="5486400" y="3611880"/>
            <a:ext cx="201168" cy="201168"/>
          </a:xfrm>
          <a:prstGeom prst="ellipse">
            <a:avLst/>
          </a:prstGeom>
          <a:solidFill>
            <a:srgbClr val="E09F3E"/>
          </a:solidFill>
          <a:ln w="12700">
            <a:solidFill>
              <a:srgbClr val="E09F3E"/>
            </a:solidFill>
            <a:prstDash val="solid"/>
          </a:ln>
        </p:spPr>
      </p:sp>
      <p:sp>
        <p:nvSpPr>
          <p:cNvPr id="17" name="Text 14"/>
          <p:cNvSpPr txBox="1"/>
          <p:nvPr/>
        </p:nvSpPr>
        <p:spPr>
          <a:xfrm>
            <a:off x="5760720" y="3547872"/>
            <a:ext cx="2834640" cy="292608"/>
          </a:xfrm>
          <a:prstGeom prst="rect">
            <a:avLst/>
          </a:prstGeom>
          <a:noFill/>
          <a:ln/>
        </p:spPr>
        <p:txBody>
          <a:bodyPr wrap="square" lIns="0" tIns="0" rIns="0" bIns="0" rtlCol="0" anchor="t"/>
          <a:lstStyle/>
          <a:p>
            <a:pPr algn="l" indent="0" marL="0">
              <a:buNone/>
            </a:pPr>
            <a:r>
              <a:rPr lang="en-US" sz="1250" b="1" dirty="0">
                <a:solidFill>
                  <a:srgbClr val="1C2331"/>
                </a:solidFill>
                <a:latin typeface="Calibri" pitchFamily="34" charset="0"/>
                <a:ea typeface="Calibri" pitchFamily="34" charset="-122"/>
                <a:cs typeface="Calibri" pitchFamily="34" charset="-120"/>
              </a:rPr>
              <a:t>Catastrophic tail</a:t>
            </a:r>
            <a:endParaRPr lang="en-US" sz="1250" dirty="0"/>
          </a:p>
        </p:txBody>
      </p:sp>
      <p:sp>
        <p:nvSpPr>
          <p:cNvPr id="18" name="Text 15"/>
          <p:cNvSpPr txBox="1"/>
          <p:nvPr/>
        </p:nvSpPr>
        <p:spPr>
          <a:xfrm>
            <a:off x="5760720" y="3803904"/>
            <a:ext cx="2834640" cy="228600"/>
          </a:xfrm>
          <a:prstGeom prst="rect">
            <a:avLst/>
          </a:prstGeom>
          <a:noFill/>
          <a:ln/>
        </p:spPr>
        <p:txBody>
          <a:bodyPr wrap="square" lIns="0" tIns="0" rIns="0" bIns="0" rtlCol="0" anchor="t"/>
          <a:lstStyle/>
          <a:p>
            <a:pPr algn="l" indent="0" marL="0">
              <a:buNone/>
            </a:pPr>
            <a:r>
              <a:rPr lang="en-US" sz="950" b="1" dirty="0">
                <a:solidFill>
                  <a:srgbClr val="E09F3E"/>
                </a:solidFill>
                <a:latin typeface="Calibri" pitchFamily="34" charset="0"/>
                <a:ea typeface="Calibri" pitchFamily="34" charset="-122"/>
                <a:cs typeface="Calibri" pitchFamily="34" charset="-120"/>
              </a:rPr>
              <a:t>Grok 4.6, DeepSeek V4 Flash</a:t>
            </a:r>
            <a:endParaRPr lang="en-US" sz="950" dirty="0"/>
          </a:p>
        </p:txBody>
      </p:sp>
      <p:sp>
        <p:nvSpPr>
          <p:cNvPr id="19" name="Text 16"/>
          <p:cNvSpPr txBox="1"/>
          <p:nvPr/>
        </p:nvSpPr>
        <p:spPr>
          <a:xfrm>
            <a:off x="5486400" y="4023360"/>
            <a:ext cx="3108960" cy="548640"/>
          </a:xfrm>
          <a:prstGeom prst="rect">
            <a:avLst/>
          </a:prstGeom>
          <a:noFill/>
          <a:ln/>
        </p:spPr>
        <p:txBody>
          <a:bodyPr wrap="square" lIns="0" tIns="0" rIns="0" bIns="0" rtlCol="0" anchor="t"/>
          <a:lstStyle/>
          <a:p>
            <a:pPr algn="l" indent="0" marL="0">
              <a:buNone/>
            </a:pPr>
            <a:r>
              <a:rPr lang="en-US" sz="900" dirty="0">
                <a:solidFill>
                  <a:srgbClr val="2E3A4F"/>
                </a:solidFill>
                <a:latin typeface="Calibri" pitchFamily="34" charset="0"/>
                <a:ea typeface="Calibri" pitchFamily="34" charset="-122"/>
                <a:cs typeface="Calibri" pitchFamily="34" charset="-120"/>
              </a:rPr>
              <a:t>One Grok prompt supplies 63.06% of its unregistered names; three supply 82.88%. Two prompts do the same for V4 (72.42%). Rare floods need output bounds and flood detection, not average-rate tuning.</a:t>
            </a:r>
            <a:endParaRPr lang="en-US" sz="900" dirty="0"/>
          </a:p>
        </p:txBody>
      </p:sp>
      <p:sp>
        <p:nvSpPr>
          <p:cNvPr id="20" name="Text 17"/>
          <p:cNvSpPr txBox="1"/>
          <p:nvPr/>
        </p:nvSpPr>
        <p:spPr>
          <a:xfrm>
            <a:off x="457200" y="3703320"/>
            <a:ext cx="4663440" cy="914400"/>
          </a:xfrm>
          <a:prstGeom prst="rect">
            <a:avLst/>
          </a:prstGeom>
          <a:noFill/>
          <a:ln/>
        </p:spPr>
        <p:txBody>
          <a:bodyPr wrap="square" lIns="0" tIns="0" rIns="0" bIns="0" rtlCol="0" anchor="t"/>
          <a:lstStyle/>
          <a:p>
            <a:pPr algn="l" indent="0" marL="0">
              <a:buNone/>
            </a:pPr>
            <a:r>
              <a:rPr lang="en-US" sz="1150" i="1" dirty="0">
                <a:solidFill>
                  <a:srgbClr val="3A7D7B"/>
                </a:solidFill>
                <a:latin typeface="Calibri" pitchFamily="34" charset="0"/>
                <a:ea typeface="Calibri" pitchFamily="34" charset="-122"/>
                <a:cs typeface="Calibri" pitchFamily="34" charset="-120"/>
              </a:rPr>
              <a:t>The same average rate can imply opposite mitigations. Grok's 8.22% and DeepSeek Coder V2's 10.30% look like neighbors on a leaderboard; operationally they are different failures.</a:t>
            </a:r>
            <a:endParaRPr lang="en-US" sz="1150" dirty="0"/>
          </a:p>
        </p:txBody>
      </p:sp>
      <p:sp>
        <p:nvSpPr>
          <p:cNvPr id="21" name="Text 18"/>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Leave-top-k is a concentration diagnostic, not an alternative primary estimand. Source: CAMPAIGN4_POST_ANALYSIS.md.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INFERENCE</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Which model differences survive correction?</a:t>
            </a:r>
            <a:endParaRPr lang="en-US" sz="2800" dirty="0"/>
          </a:p>
        </p:txBody>
      </p:sp>
      <p:sp>
        <p:nvSpPr>
          <p:cNvPr id="4" name="Text 2"/>
          <p:cNvSpPr txBox="1"/>
          <p:nvPr/>
        </p:nvSpPr>
        <p:spPr>
          <a:xfrm>
            <a:off x="457200" y="1097280"/>
            <a:ext cx="1828800" cy="685800"/>
          </a:xfrm>
          <a:prstGeom prst="rect">
            <a:avLst/>
          </a:prstGeom>
          <a:noFill/>
          <a:ln/>
        </p:spPr>
        <p:txBody>
          <a:bodyPr wrap="square" lIns="0" tIns="0" rIns="0" bIns="0" rtlCol="0" anchor="b"/>
          <a:lstStyle/>
          <a:p>
            <a:pPr algn="l" indent="0" marL="0">
              <a:buNone/>
            </a:pPr>
            <a:r>
              <a:rPr lang="en-US" sz="3400" b="1" dirty="0">
                <a:solidFill>
                  <a:srgbClr val="1C2331"/>
                </a:solidFill>
                <a:latin typeface="Cambria" pitchFamily="34" charset="0"/>
                <a:ea typeface="Cambria" pitchFamily="34" charset="-122"/>
                <a:cs typeface="Cambria" pitchFamily="34" charset="-120"/>
              </a:rPr>
              <a:t>7 of 15</a:t>
            </a:r>
            <a:endParaRPr lang="en-US" sz="3400" dirty="0"/>
          </a:p>
        </p:txBody>
      </p:sp>
      <p:sp>
        <p:nvSpPr>
          <p:cNvPr id="5" name="Text 3"/>
          <p:cNvSpPr txBox="1"/>
          <p:nvPr/>
        </p:nvSpPr>
        <p:spPr>
          <a:xfrm>
            <a:off x="457200" y="1810512"/>
            <a:ext cx="182880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paired comparisons significant under the preregistered bootstrap-tail / Holm convention</a:t>
            </a:r>
            <a:endParaRPr lang="en-US" sz="1100" dirty="0"/>
          </a:p>
        </p:txBody>
      </p:sp>
      <p:sp>
        <p:nvSpPr>
          <p:cNvPr id="6" name="Text 4"/>
          <p:cNvSpPr txBox="1"/>
          <p:nvPr/>
        </p:nvSpPr>
        <p:spPr>
          <a:xfrm>
            <a:off x="2651760" y="1097280"/>
            <a:ext cx="1828800" cy="685800"/>
          </a:xfrm>
          <a:prstGeom prst="rect">
            <a:avLst/>
          </a:prstGeom>
          <a:noFill/>
          <a:ln/>
        </p:spPr>
        <p:txBody>
          <a:bodyPr wrap="square" lIns="0" tIns="0" rIns="0" bIns="0" rtlCol="0" anchor="b"/>
          <a:lstStyle/>
          <a:p>
            <a:pPr algn="l" indent="0" marL="0">
              <a:buNone/>
            </a:pPr>
            <a:r>
              <a:rPr lang="en-US" sz="3400" b="1" dirty="0">
                <a:solidFill>
                  <a:srgbClr val="E09F3E"/>
                </a:solidFill>
                <a:latin typeface="Cambria" pitchFamily="34" charset="0"/>
                <a:ea typeface="Cambria" pitchFamily="34" charset="-122"/>
                <a:cs typeface="Cambria" pitchFamily="34" charset="-120"/>
              </a:rPr>
              <a:t>5 of 15</a:t>
            </a:r>
            <a:endParaRPr lang="en-US" sz="3400" dirty="0"/>
          </a:p>
        </p:txBody>
      </p:sp>
      <p:sp>
        <p:nvSpPr>
          <p:cNvPr id="7" name="Text 5"/>
          <p:cNvSpPr txBox="1"/>
          <p:nvPr/>
        </p:nvSpPr>
        <p:spPr>
          <a:xfrm>
            <a:off x="2651760" y="1810512"/>
            <a:ext cx="182880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survive a post-hoc recentered-null cluster bootstrap with the same 50,000 replicates</a:t>
            </a:r>
            <a:endParaRPr lang="en-US" sz="1100" dirty="0"/>
          </a:p>
        </p:txBody>
      </p:sp>
      <p:sp>
        <p:nvSpPr>
          <p:cNvPr id="8" name="Shape 6"/>
          <p:cNvSpPr/>
          <p:nvPr/>
        </p:nvSpPr>
        <p:spPr>
          <a:xfrm>
            <a:off x="4937760" y="1097280"/>
            <a:ext cx="3749040" cy="3520440"/>
          </a:xfrm>
          <a:prstGeom prst="roundRect">
            <a:avLst>
              <a:gd name="adj" fmla="val 2078"/>
            </a:avLst>
          </a:prstGeom>
          <a:solidFill>
            <a:srgbClr val="F2F4F7"/>
          </a:solidFill>
          <a:ln w="12700">
            <a:solidFill>
              <a:srgbClr val="F2F4F7"/>
            </a:solidFill>
            <a:prstDash val="solid"/>
          </a:ln>
        </p:spPr>
      </p:sp>
      <p:sp>
        <p:nvSpPr>
          <p:cNvPr id="9" name="Text 7"/>
          <p:cNvSpPr txBox="1"/>
          <p:nvPr/>
        </p:nvSpPr>
        <p:spPr>
          <a:xfrm>
            <a:off x="5120640" y="1234440"/>
            <a:ext cx="3383280" cy="320040"/>
          </a:xfrm>
          <a:prstGeom prst="rect">
            <a:avLst/>
          </a:prstGeom>
          <a:noFill/>
          <a:ln/>
        </p:spPr>
        <p:txBody>
          <a:bodyPr wrap="square" lIns="0" tIns="0" rIns="0" bIns="0" rtlCol="0" anchor="t"/>
          <a:lstStyle/>
          <a:p>
            <a:pPr algn="l" indent="0" marL="0">
              <a:buNone/>
            </a:pPr>
            <a:r>
              <a:rPr lang="en-US" sz="1300" b="1" dirty="0">
                <a:solidFill>
                  <a:srgbClr val="3A7D7B"/>
                </a:solidFill>
                <a:latin typeface="Calibri" pitchFamily="34" charset="0"/>
                <a:ea typeface="Calibri" pitchFamily="34" charset="-122"/>
                <a:cs typeface="Calibri" pitchFamily="34" charset="-120"/>
              </a:rPr>
              <a:t>Stable under both conventions</a:t>
            </a:r>
            <a:endParaRPr lang="en-US" sz="1300" dirty="0"/>
          </a:p>
        </p:txBody>
      </p:sp>
      <p:sp>
        <p:nvSpPr>
          <p:cNvPr id="10" name="Text 8"/>
          <p:cNvSpPr txBox="1"/>
          <p:nvPr/>
        </p:nvSpPr>
        <p:spPr>
          <a:xfrm>
            <a:off x="5120640" y="1572768"/>
            <a:ext cx="3383280" cy="9144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E3A4F"/>
                </a:solidFill>
                <a:latin typeface="Calibri" pitchFamily="34" charset="0"/>
                <a:ea typeface="Calibri" pitchFamily="34" charset="-122"/>
                <a:cs typeface="Calibri" pitchFamily="34" charset="-120"/>
              </a:rPr>
              <a:t>Opus vs gpt-oss</a:t>
            </a:r>
            <a:endParaRPr lang="en-US" sz="1100" dirty="0"/>
          </a:p>
          <a:p>
            <a:pPr marL="177800" indent="-177800">
              <a:spcAft>
                <a:spcPts val="300"/>
              </a:spcAft>
              <a:buSzPct val="100000"/>
              <a:buChar char="•"/>
            </a:pPr>
            <a:r>
              <a:rPr lang="en-US" sz="1100" dirty="0">
                <a:solidFill>
                  <a:srgbClr val="2E3A4F"/>
                </a:solidFill>
                <a:latin typeface="Calibri" pitchFamily="34" charset="0"/>
                <a:ea typeface="Calibri" pitchFamily="34" charset="-122"/>
                <a:cs typeface="Calibri" pitchFamily="34" charset="-120"/>
              </a:rPr>
              <a:t>Opus, GPT-5.2, and gpt-oss each vs DeepSeek Coder V2</a:t>
            </a:r>
            <a:endParaRPr lang="en-US" sz="1100" dirty="0"/>
          </a:p>
          <a:p>
            <a:pPr marL="177800" indent="-177800">
              <a:spcAft>
                <a:spcPts val="300"/>
              </a:spcAft>
              <a:buSzPct val="100000"/>
              <a:buChar char="•"/>
            </a:pPr>
            <a:r>
              <a:rPr lang="en-US" sz="1100" dirty="0">
                <a:solidFill>
                  <a:srgbClr val="2E3A4F"/>
                </a:solidFill>
                <a:latin typeface="Calibri" pitchFamily="34" charset="0"/>
                <a:ea typeface="Calibri" pitchFamily="34" charset="-122"/>
                <a:cs typeface="Calibri" pitchFamily="34" charset="-120"/>
              </a:rPr>
              <a:t>Opus vs DeepSeek V4 Flash</a:t>
            </a:r>
            <a:endParaRPr lang="en-US" sz="1100" dirty="0"/>
          </a:p>
        </p:txBody>
      </p:sp>
      <p:sp>
        <p:nvSpPr>
          <p:cNvPr id="11" name="Text 9"/>
          <p:cNvSpPr txBox="1"/>
          <p:nvPr/>
        </p:nvSpPr>
        <p:spPr>
          <a:xfrm>
            <a:off x="5120640" y="2560320"/>
            <a:ext cx="3383280" cy="320040"/>
          </a:xfrm>
          <a:prstGeom prst="rect">
            <a:avLst/>
          </a:prstGeom>
          <a:noFill/>
          <a:ln/>
        </p:spPr>
        <p:txBody>
          <a:bodyPr wrap="square" lIns="0" tIns="0" rIns="0" bIns="0" rtlCol="0" anchor="t"/>
          <a:lstStyle/>
          <a:p>
            <a:pPr algn="l" indent="0" marL="0">
              <a:buNone/>
            </a:pPr>
            <a:r>
              <a:rPr lang="en-US" sz="1300" b="1" dirty="0">
                <a:solidFill>
                  <a:srgbClr val="E09F3E"/>
                </a:solidFill>
                <a:latin typeface="Calibri" pitchFamily="34" charset="0"/>
                <a:ea typeface="Calibri" pitchFamily="34" charset="-122"/>
                <a:cs typeface="Calibri" pitchFamily="34" charset="-120"/>
              </a:rPr>
              <a:t>Convention-sensitive</a:t>
            </a:r>
            <a:endParaRPr lang="en-US" sz="1300" dirty="0"/>
          </a:p>
        </p:txBody>
      </p:sp>
      <p:sp>
        <p:nvSpPr>
          <p:cNvPr id="12" name="Text 10"/>
          <p:cNvSpPr txBox="1"/>
          <p:nvPr/>
        </p:nvSpPr>
        <p:spPr>
          <a:xfrm>
            <a:off x="5120640" y="2898648"/>
            <a:ext cx="3383280" cy="5486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E3A4F"/>
                </a:solidFill>
                <a:latin typeface="Calibri" pitchFamily="34" charset="0"/>
                <a:ea typeface="Calibri" pitchFamily="34" charset="-122"/>
                <a:cs typeface="Calibri" pitchFamily="34" charset="-120"/>
              </a:rPr>
              <a:t>GPT-5.2 and gpt-oss vs DeepSeek V4: pass the original, not the recentered sensitivity (Holm p = 0.0596)</a:t>
            </a:r>
            <a:endParaRPr lang="en-US" sz="1100" dirty="0"/>
          </a:p>
        </p:txBody>
      </p:sp>
      <p:sp>
        <p:nvSpPr>
          <p:cNvPr id="13" name="Text 11"/>
          <p:cNvSpPr txBox="1"/>
          <p:nvPr/>
        </p:nvSpPr>
        <p:spPr>
          <a:xfrm>
            <a:off x="5120640" y="3520440"/>
            <a:ext cx="3383280" cy="320040"/>
          </a:xfrm>
          <a:prstGeom prst="rect">
            <a:avLst/>
          </a:prstGeom>
          <a:noFill/>
          <a:ln/>
        </p:spPr>
        <p:txBody>
          <a:bodyPr wrap="square" lIns="0" tIns="0" rIns="0" bIns="0" rtlCol="0" anchor="t"/>
          <a:lstStyle/>
          <a:p>
            <a:pPr algn="l" indent="0" marL="0">
              <a:buNone/>
            </a:pPr>
            <a:r>
              <a:rPr lang="en-US" sz="1300" b="1" dirty="0">
                <a:solidFill>
                  <a:srgbClr val="B5432F"/>
                </a:solidFill>
                <a:latin typeface="Calibri" pitchFamily="34" charset="0"/>
                <a:ea typeface="Calibri" pitchFamily="34" charset="-122"/>
                <a:cs typeface="Calibri" pitchFamily="34" charset="-120"/>
              </a:rPr>
              <a:t>Inconclusive</a:t>
            </a:r>
            <a:endParaRPr lang="en-US" sz="1300" dirty="0"/>
          </a:p>
        </p:txBody>
      </p:sp>
      <p:sp>
        <p:nvSpPr>
          <p:cNvPr id="14" name="Text 12"/>
          <p:cNvSpPr txBox="1"/>
          <p:nvPr/>
        </p:nvSpPr>
        <p:spPr>
          <a:xfrm>
            <a:off x="5120640" y="3858768"/>
            <a:ext cx="3383280" cy="7315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E3A4F"/>
                </a:solidFill>
                <a:latin typeface="Calibri" pitchFamily="34" charset="0"/>
                <a:ea typeface="Calibri" pitchFamily="34" charset="-122"/>
                <a:cs typeface="Calibri" pitchFamily="34" charset="-120"/>
              </a:rPr>
              <a:t>Opus vs GPT-5.2 (about 0.57 points, p near 0.066)</a:t>
            </a:r>
            <a:endParaRPr lang="en-US" sz="1100" dirty="0"/>
          </a:p>
          <a:p>
            <a:pPr marL="177800" indent="-177800">
              <a:spcAft>
                <a:spcPts val="300"/>
              </a:spcAft>
              <a:buSzPct val="100000"/>
              <a:buChar char="•"/>
            </a:pPr>
            <a:r>
              <a:rPr lang="en-US" sz="1100" dirty="0">
                <a:solidFill>
                  <a:srgbClr val="2E3A4F"/>
                </a:solidFill>
                <a:latin typeface="Calibri" pitchFamily="34" charset="0"/>
                <a:ea typeface="Calibri" pitchFamily="34" charset="-122"/>
                <a:cs typeface="Calibri" pitchFamily="34" charset="-120"/>
              </a:rPr>
              <a:t>Every pair involving Grok: its estimate is dominated by a few prompts</a:t>
            </a:r>
            <a:endParaRPr lang="en-US" sz="1100" dirty="0"/>
          </a:p>
        </p:txBody>
      </p:sp>
      <p:sp>
        <p:nvSpPr>
          <p:cNvPr id="15" name="Text 13"/>
          <p:cNvSpPr txBox="1"/>
          <p:nvPr/>
        </p:nvSpPr>
        <p:spPr>
          <a:xfrm>
            <a:off x="457200" y="2606040"/>
            <a:ext cx="4206240" cy="320040"/>
          </a:xfrm>
          <a:prstGeom prst="rect">
            <a:avLst/>
          </a:prstGeom>
          <a:noFill/>
          <a:ln/>
        </p:spPr>
        <p:txBody>
          <a:bodyPr wrap="square" lIns="0" tIns="0" rIns="0" bIns="0" rtlCol="0" anchor="t"/>
          <a:lstStyle/>
          <a:p>
            <a:pPr algn="l" indent="0" marL="0">
              <a:buNone/>
            </a:pPr>
            <a:r>
              <a:rPr lang="en-US" sz="1300" b="1" dirty="0">
                <a:solidFill>
                  <a:srgbClr val="1C2331"/>
                </a:solidFill>
                <a:latin typeface="Calibri" pitchFamily="34" charset="0"/>
                <a:ea typeface="Calibri" pitchFamily="34" charset="-122"/>
                <a:cs typeface="Calibri" pitchFamily="34" charset="-120"/>
              </a:rPr>
              <a:t>How to read this</a:t>
            </a:r>
            <a:endParaRPr lang="en-US" sz="1300" dirty="0"/>
          </a:p>
        </p:txBody>
      </p:sp>
      <p:sp>
        <p:nvSpPr>
          <p:cNvPr id="16" name="Text 14"/>
          <p:cNvSpPr txBox="1"/>
          <p:nvPr/>
        </p:nvSpPr>
        <p:spPr>
          <a:xfrm>
            <a:off x="457200" y="2944368"/>
            <a:ext cx="4206240" cy="169164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Effect sizes and dataset-stratified prompt-cluster intervals are primary; p-value tables are secondary</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Per-package observations are not independent, so mention-level Wilson intervals overstate certainty</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Avoid a total ordering of the six models, particularly for Grok</a:t>
            </a:r>
            <a:endParaRPr lang="en-US" sz="1050" dirty="0"/>
          </a:p>
          <a:p>
            <a:pPr marL="177800" indent="-177800">
              <a:spcAft>
                <a:spcPts val="400"/>
              </a:spcAft>
              <a:buSzPct val="100000"/>
              <a:buChar char="•"/>
            </a:pPr>
            <a:r>
              <a:rPr lang="en-US" sz="1050" dirty="0">
                <a:solidFill>
                  <a:srgbClr val="2E3A4F"/>
                </a:solidFill>
                <a:latin typeface="Calibri" pitchFamily="34" charset="0"/>
                <a:ea typeface="Calibri" pitchFamily="34" charset="-122"/>
                <a:cs typeface="Calibri" pitchFamily="34" charset="-120"/>
              </a:rPr>
              <a:t>The recentered-null run is labeled post hoc because the preregistration did not fully specify the p-value construction</a:t>
            </a:r>
            <a:endParaRPr lang="en-US" sz="1050" dirty="0"/>
          </a:p>
        </p:txBody>
      </p:sp>
      <p:sp>
        <p:nvSpPr>
          <p:cNvPr id="17" name="Text 15"/>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Source: CAMPAIGN4_POST_ANALYSIS.md, pairwise inference sensitivity; campaign4_results.json track_b_paired_holm.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RQ6  ·  CONCURRENT-WORK BRIDGE</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Churilov's extractor does not close the gap</a:t>
            </a:r>
            <a:endParaRPr lang="en-US" sz="2800" dirty="0"/>
          </a:p>
        </p:txBody>
      </p:sp>
      <p:graphicFrame>
        <p:nvGraphicFramePr>
          <p:cNvPr id="4" name="Chart 0" descr=""/>
          <p:cNvGraphicFramePr/>
          <p:nvPr/>
        </p:nvGraphicFramePr>
        <p:xfrm>
          <a:off x="365760" y="105156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251960"/>
            <a:ext cx="4846320" cy="457200"/>
          </a:xfrm>
          <a:prstGeom prst="rect">
            <a:avLst/>
          </a:prstGeom>
          <a:noFill/>
          <a:ln/>
        </p:spPr>
        <p:txBody>
          <a:bodyPr wrap="square" lIns="0" tIns="0" rIns="0" bIns="0" rtlCol="0" anchor="t"/>
          <a:lstStyle/>
          <a:p>
            <a:pPr algn="l" indent="0" marL="0">
              <a:buNone/>
            </a:pPr>
            <a:r>
              <a:rPr lang="en-US" sz="1050" i="1" dirty="0">
                <a:solidFill>
                  <a:srgbClr val="3A7D7B"/>
                </a:solidFill>
                <a:latin typeface="Calibri" pitchFamily="34" charset="0"/>
                <a:ea typeface="Calibri" pitchFamily="34" charset="-122"/>
                <a:cs typeface="Calibri" pitchFamily="34" charset="-120"/>
              </a:rPr>
              <a:t>Churilov's reported 2026 Python band is 5.49 to 7.27%. Only Qwen 3.5 lands inside it. The original six Campaign 4 cells stay at 8.30 to 17.49%.</a:t>
            </a:r>
            <a:endParaRPr lang="en-US" sz="1050" dirty="0"/>
          </a:p>
        </p:txBody>
      </p:sp>
      <p:sp>
        <p:nvSpPr>
          <p:cNvPr id="6" name="Shape 3"/>
          <p:cNvSpPr/>
          <p:nvPr/>
        </p:nvSpPr>
        <p:spPr>
          <a:xfrm>
            <a:off x="5577840" y="1097280"/>
            <a:ext cx="3108960" cy="3520440"/>
          </a:xfrm>
          <a:prstGeom prst="roundRect">
            <a:avLst>
              <a:gd name="adj" fmla="val 2353"/>
            </a:avLst>
          </a:prstGeom>
          <a:solidFill>
            <a:srgbClr val="F2F4F7"/>
          </a:solidFill>
          <a:ln w="12700">
            <a:solidFill>
              <a:srgbClr val="F2F4F7"/>
            </a:solidFill>
            <a:prstDash val="solid"/>
          </a:ln>
        </p:spPr>
      </p:sp>
      <p:sp>
        <p:nvSpPr>
          <p:cNvPr id="7" name="Text 4"/>
          <p:cNvSpPr txBox="1"/>
          <p:nvPr/>
        </p:nvSpPr>
        <p:spPr>
          <a:xfrm>
            <a:off x="5760720" y="1234440"/>
            <a:ext cx="2743200" cy="320040"/>
          </a:xfrm>
          <a:prstGeom prst="rect">
            <a:avLst/>
          </a:prstGeom>
          <a:noFill/>
          <a:ln/>
        </p:spPr>
        <p:txBody>
          <a:bodyPr wrap="square" lIns="0" tIns="0" rIns="0" bIns="0" rtlCol="0" anchor="t"/>
          <a:lstStyle/>
          <a:p>
            <a:pPr algn="l" indent="0" marL="0">
              <a:buNone/>
            </a:pPr>
            <a:r>
              <a:rPr lang="en-US" sz="1300" b="1" dirty="0">
                <a:solidFill>
                  <a:srgbClr val="1C2331"/>
                </a:solidFill>
                <a:latin typeface="Calibri" pitchFamily="34" charset="0"/>
                <a:ea typeface="Calibri" pitchFamily="34" charset="-122"/>
                <a:cs typeface="Calibri" pitchFamily="34" charset="-120"/>
              </a:rPr>
              <a:t>What the bridge shows</a:t>
            </a:r>
            <a:endParaRPr lang="en-US" sz="1300" dirty="0"/>
          </a:p>
        </p:txBody>
      </p:sp>
      <p:sp>
        <p:nvSpPr>
          <p:cNvPr id="8" name="Text 5"/>
          <p:cNvSpPr txBox="1"/>
          <p:nvPr/>
        </p:nvSpPr>
        <p:spPr>
          <a:xfrm>
            <a:off x="5760720" y="1572768"/>
            <a:ext cx="2743200" cy="3017520"/>
          </a:xfrm>
          <a:prstGeom prst="rect">
            <a:avLst/>
          </a:prstGeom>
          <a:noFill/>
          <a:ln/>
        </p:spPr>
        <p:txBody>
          <a:bodyPr wrap="square" lIns="0" tIns="0" rIns="0" bIns="0" rtlCol="0" anchor="t"/>
          <a:lstStyle/>
          <a:p>
            <a:pPr marL="177800" indent="-177800">
              <a:spcAft>
                <a:spcPts val="400"/>
              </a:spcAft>
              <a:buSzPct val="100000"/>
              <a:buChar char="•"/>
            </a:pPr>
            <a:r>
              <a:rPr lang="en-US" sz="950" dirty="0">
                <a:solidFill>
                  <a:srgbClr val="2E3A4F"/>
                </a:solidFill>
                <a:latin typeface="Calibri" pitchFamily="34" charset="0"/>
                <a:ea typeface="Calibri" pitchFamily="34" charset="-122"/>
                <a:cs typeface="Calibri" pitchFamily="34" charset="-120"/>
              </a:rPr>
              <a:t>Frozen Track B code was rescored, not regenerated, so model behavior is held fixed while only the extractor changes</a:t>
            </a:r>
            <a:endParaRPr lang="en-US" sz="950" dirty="0"/>
          </a:p>
          <a:p>
            <a:pPr marL="177800" indent="-177800">
              <a:spcAft>
                <a:spcPts val="400"/>
              </a:spcAft>
              <a:buSzPct val="100000"/>
              <a:buChar char="•"/>
            </a:pPr>
            <a:r>
              <a:rPr lang="en-US" sz="950" dirty="0">
                <a:solidFill>
                  <a:srgbClr val="2E3A4F"/>
                </a:solidFill>
                <a:latin typeface="Calibri" pitchFamily="34" charset="0"/>
                <a:ea typeface="Calibri" pitchFamily="34" charset="-122"/>
                <a:cs typeface="Calibri" pitchFamily="34" charset="-120"/>
              </a:rPr>
              <a:t>608 of 621 dual-registry flags (97.9%) come from imports, not explicit install directives</a:t>
            </a:r>
            <a:endParaRPr lang="en-US" sz="950" dirty="0"/>
          </a:p>
          <a:p>
            <a:pPr marL="177800" indent="-177800">
              <a:spcAft>
                <a:spcPts val="400"/>
              </a:spcAft>
              <a:buSzPct val="100000"/>
              <a:buChar char="•"/>
            </a:pPr>
            <a:r>
              <a:rPr lang="en-US" sz="950" dirty="0">
                <a:solidFill>
                  <a:srgbClr val="2E3A4F"/>
                </a:solidFill>
                <a:latin typeface="Calibri" pitchFamily="34" charset="0"/>
                <a:ea typeface="Calibri" pitchFamily="34" charset="-122"/>
                <a:cs typeface="Calibri" pitchFamily="34" charset="-120"/>
              </a:rPr>
              <a:t>Only 11 of 632 frozen-absence mentions are removed by the current-registry correction: registry drift does not explain the gap</a:t>
            </a:r>
            <a:endParaRPr lang="en-US" sz="950" dirty="0"/>
          </a:p>
          <a:p>
            <a:pPr marL="177800" indent="-177800">
              <a:spcAft>
                <a:spcPts val="400"/>
              </a:spcAft>
              <a:buSzPct val="100000"/>
              <a:buChar char="•"/>
            </a:pPr>
            <a:r>
              <a:rPr lang="en-US" sz="950" dirty="0">
                <a:solidFill>
                  <a:srgbClr val="2E3A4F"/>
                </a:solidFill>
                <a:latin typeface="Calibri" pitchFamily="34" charset="0"/>
                <a:ea typeface="Calibri" pitchFamily="34" charset="-122"/>
                <a:cs typeface="Calibri" pitchFamily="34" charset="-120"/>
              </a:rPr>
              <a:t>Prompt source is a major effect modifier: 3.70 to 26.45% on synthetic prompts vs 0.00 to 7.50% on Stack Overflow prompts</a:t>
            </a:r>
            <a:endParaRPr lang="en-US" sz="950" dirty="0"/>
          </a:p>
          <a:p>
            <a:pPr marL="177800" indent="-177800">
              <a:spcAft>
                <a:spcPts val="400"/>
              </a:spcAft>
              <a:buSzPct val="100000"/>
              <a:buChar char="•"/>
            </a:pPr>
            <a:r>
              <a:rPr lang="en-US" sz="950" dirty="0">
                <a:solidFill>
                  <a:srgbClr val="2E3A4F"/>
                </a:solidFill>
                <a:latin typeface="Calibri" pitchFamily="34" charset="0"/>
                <a:ea typeface="Calibri" pitchFamily="34" charset="-122"/>
                <a:cs typeface="Calibri" pitchFamily="34" charset="-120"/>
              </a:rPr>
              <a:t>Remaining questions are cohort, import-module vs distribution-name mapping, refusal policy, and the inferential unit</a:t>
            </a:r>
            <a:endParaRPr lang="en-US" sz="950" dirty="0"/>
          </a:p>
        </p:txBody>
      </p:sp>
      <p:sp>
        <p:nvSpPr>
          <p:cNvPr id="9" name="Text 6"/>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Churilov, arXiv:2605.17062v3, near-disjoint cohort, full corpus, Python and JavaScript. Source: Experiments/CHURILOV_BRIDGE_ANALYSIS.md. No exact model overlap, so this is described, not tested.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RQ6  ·  CROSS-MODEL OVERLAP</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"Universal" names are mostly prompt-induced</a:t>
            </a:r>
            <a:endParaRPr lang="en-US" sz="2800" dirty="0"/>
          </a:p>
        </p:txBody>
      </p:sp>
      <p:sp>
        <p:nvSpPr>
          <p:cNvPr id="4" name="Text 2"/>
          <p:cNvSpPr txBox="1"/>
          <p:nvPr/>
        </p:nvSpPr>
        <p:spPr>
          <a:xfrm>
            <a:off x="457200" y="1005840"/>
            <a:ext cx="8229600" cy="548640"/>
          </a:xfrm>
          <a:prstGeom prst="rect">
            <a:avLst/>
          </a:prstGeom>
          <a:noFill/>
          <a:ln/>
        </p:spPr>
        <p:txBody>
          <a:bodyPr wrap="square" lIns="0" tIns="0" rIns="0" bIns="0" rtlCol="0" anchor="t"/>
          <a:lstStyle/>
          <a:p>
            <a:pPr algn="l" indent="0" marL="0">
              <a:buNone/>
            </a:pPr>
            <a:r>
              <a:rPr lang="en-US" sz="1250" dirty="0">
                <a:solidFill>
                  <a:srgbClr val="2E3A4F"/>
                </a:solidFill>
                <a:latin typeface="Calibri" pitchFamily="34" charset="0"/>
                <a:ea typeface="Calibri" pitchFamily="34" charset="-122"/>
                <a:cs typeface="Calibri" pitchFamily="34" charset="-120"/>
              </a:rPr>
              <a:t>Churilov interprets names shared across models as evidence of shared training data. Conditioning overlap on prompt identity offers a competing explanation that must be measured first.</a:t>
            </a:r>
            <a:endParaRPr lang="en-US" sz="1250" dirty="0"/>
          </a:p>
        </p:txBody>
      </p:sp>
      <p:sp>
        <p:nvSpPr>
          <p:cNvPr id="5" name="Shape 3"/>
          <p:cNvSpPr/>
          <p:nvPr/>
        </p:nvSpPr>
        <p:spPr>
          <a:xfrm>
            <a:off x="457200" y="1691640"/>
            <a:ext cx="4023360" cy="2926080"/>
          </a:xfrm>
          <a:prstGeom prst="roundRect">
            <a:avLst>
              <a:gd name="adj" fmla="val 2500"/>
            </a:avLst>
          </a:prstGeom>
          <a:solidFill>
            <a:srgbClr val="1C2331"/>
          </a:solidFill>
          <a:ln w="12700">
            <a:solidFill>
              <a:srgbClr val="1C2331"/>
            </a:solidFill>
            <a:prstDash val="solid"/>
          </a:ln>
        </p:spPr>
      </p:sp>
      <p:sp>
        <p:nvSpPr>
          <p:cNvPr id="6" name="Text 4"/>
          <p:cNvSpPr txBox="1"/>
          <p:nvPr/>
        </p:nvSpPr>
        <p:spPr>
          <a:xfrm>
            <a:off x="640080" y="1828800"/>
            <a:ext cx="3657600" cy="274320"/>
          </a:xfrm>
          <a:prstGeom prst="rect">
            <a:avLst/>
          </a:prstGeom>
          <a:noFill/>
          <a:ln/>
        </p:spPr>
        <p:txBody>
          <a:bodyPr wrap="square" lIns="0" tIns="0" rIns="0" bIns="0" rtlCol="0" anchor="t"/>
          <a:lstStyle/>
          <a:p>
            <a:pPr algn="l" indent="0" marL="0">
              <a:buNone/>
            </a:pPr>
            <a:r>
              <a:rPr lang="en-US" sz="1000" b="1" dirty="0">
                <a:solidFill>
                  <a:srgbClr val="E09F3E"/>
                </a:solidFill>
                <a:latin typeface="Calibri" pitchFamily="34" charset="0"/>
                <a:ea typeface="Calibri" pitchFamily="34" charset="-122"/>
                <a:cs typeface="Calibri" pitchFamily="34" charset="-120"/>
              </a:rPr>
              <a:t>CAMPAIGN 4, SIX MODELS</a:t>
            </a:r>
            <a:endParaRPr lang="en-US" sz="1000" dirty="0"/>
          </a:p>
        </p:txBody>
      </p:sp>
      <p:sp>
        <p:nvSpPr>
          <p:cNvPr id="7" name="Text 5"/>
          <p:cNvSpPr txBox="1"/>
          <p:nvPr/>
        </p:nvSpPr>
        <p:spPr>
          <a:xfrm>
            <a:off x="640080" y="2103120"/>
            <a:ext cx="1737360" cy="68580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5</a:t>
            </a:r>
            <a:endParaRPr lang="en-US" sz="4400" dirty="0"/>
          </a:p>
        </p:txBody>
      </p:sp>
      <p:sp>
        <p:nvSpPr>
          <p:cNvPr id="8" name="Text 6"/>
          <p:cNvSpPr txBox="1"/>
          <p:nvPr/>
        </p:nvSpPr>
        <p:spPr>
          <a:xfrm>
            <a:off x="640080" y="2816352"/>
            <a:ext cx="1737360" cy="502920"/>
          </a:xfrm>
          <a:prstGeom prst="rect">
            <a:avLst/>
          </a:prstGeom>
          <a:noFill/>
          <a:ln/>
        </p:spPr>
        <p:txBody>
          <a:bodyPr wrap="square" lIns="0" tIns="0" rIns="0" bIns="0" rtlCol="0" anchor="t"/>
          <a:lstStyle/>
          <a:p>
            <a:pPr algn="l" indent="0" marL="0">
              <a:buNone/>
            </a:pPr>
            <a:r>
              <a:rPr lang="en-US" sz="1100" dirty="0">
                <a:solidFill>
                  <a:srgbClr val="CDD3DE"/>
                </a:solidFill>
                <a:latin typeface="Calibri" pitchFamily="34" charset="0"/>
                <a:ea typeface="Calibri" pitchFamily="34" charset="-122"/>
                <a:cs typeface="Calibri" pitchFamily="34" charset="-120"/>
              </a:rPr>
              <a:t>unregistered names appear across all six models</a:t>
            </a:r>
            <a:endParaRPr lang="en-US" sz="1100" dirty="0"/>
          </a:p>
        </p:txBody>
      </p:sp>
      <p:sp>
        <p:nvSpPr>
          <p:cNvPr id="9" name="Text 7"/>
          <p:cNvSpPr txBox="1"/>
          <p:nvPr/>
        </p:nvSpPr>
        <p:spPr>
          <a:xfrm>
            <a:off x="2560320" y="2103120"/>
            <a:ext cx="1737360" cy="685800"/>
          </a:xfrm>
          <a:prstGeom prst="rect">
            <a:avLst/>
          </a:prstGeom>
          <a:noFill/>
          <a:ln/>
        </p:spPr>
        <p:txBody>
          <a:bodyPr wrap="square" lIns="0" tIns="0" rIns="0" bIns="0" rtlCol="0" anchor="b"/>
          <a:lstStyle/>
          <a:p>
            <a:pPr algn="l" indent="0" marL="0">
              <a:buNone/>
            </a:pPr>
            <a:r>
              <a:rPr lang="en-US" sz="4400" b="1" dirty="0">
                <a:solidFill>
                  <a:srgbClr val="E09F3E"/>
                </a:solidFill>
                <a:latin typeface="Cambria" pitchFamily="34" charset="0"/>
                <a:ea typeface="Cambria" pitchFamily="34" charset="-122"/>
                <a:cs typeface="Cambria" pitchFamily="34" charset="-120"/>
              </a:rPr>
              <a:t>4 of 5</a:t>
            </a:r>
            <a:endParaRPr lang="en-US" sz="4400" dirty="0"/>
          </a:p>
        </p:txBody>
      </p:sp>
      <p:sp>
        <p:nvSpPr>
          <p:cNvPr id="10" name="Text 8"/>
          <p:cNvSpPr txBox="1"/>
          <p:nvPr/>
        </p:nvSpPr>
        <p:spPr>
          <a:xfrm>
            <a:off x="2560320" y="2816352"/>
            <a:ext cx="1737360" cy="502920"/>
          </a:xfrm>
          <a:prstGeom prst="rect">
            <a:avLst/>
          </a:prstGeom>
          <a:noFill/>
          <a:ln/>
        </p:spPr>
        <p:txBody>
          <a:bodyPr wrap="square" lIns="0" tIns="0" rIns="0" bIns="0" rtlCol="0" anchor="t"/>
          <a:lstStyle/>
          <a:p>
            <a:pPr algn="l" indent="0" marL="0">
              <a:buNone/>
            </a:pPr>
            <a:r>
              <a:rPr lang="en-US" sz="1100" dirty="0">
                <a:solidFill>
                  <a:srgbClr val="CDD3DE"/>
                </a:solidFill>
                <a:latin typeface="Calibri" pitchFamily="34" charset="0"/>
                <a:ea typeface="Calibri" pitchFamily="34" charset="-122"/>
                <a:cs typeface="Calibri" pitchFamily="34" charset="-120"/>
              </a:rPr>
              <a:t>of those occur across all six on one identical prompt</a:t>
            </a:r>
            <a:endParaRPr lang="en-US" sz="1100" dirty="0"/>
          </a:p>
        </p:txBody>
      </p:sp>
      <p:sp>
        <p:nvSpPr>
          <p:cNvPr id="11" name="Text 9"/>
          <p:cNvSpPr txBox="1"/>
          <p:nvPr/>
        </p:nvSpPr>
        <p:spPr>
          <a:xfrm>
            <a:off x="640080" y="3840480"/>
            <a:ext cx="3657600" cy="640080"/>
          </a:xfrm>
          <a:prstGeom prst="rect">
            <a:avLst/>
          </a:prstGeom>
          <a:noFill/>
          <a:ln/>
        </p:spPr>
        <p:txBody>
          <a:bodyPr wrap="square" lIns="0" tIns="0" rIns="0" bIns="0" rtlCol="0" anchor="t"/>
          <a:lstStyle/>
          <a:p>
            <a:pPr algn="l" indent="0" marL="0">
              <a:buNone/>
            </a:pPr>
            <a:r>
              <a:rPr lang="en-US" sz="1100" i="1" dirty="0">
                <a:solidFill>
                  <a:srgbClr val="CDD3DE"/>
                </a:solidFill>
                <a:latin typeface="Calibri" pitchFamily="34" charset="0"/>
                <a:ea typeface="Calibri" pitchFamily="34" charset="-122"/>
                <a:cs typeface="Calibri" pitchFamily="34" charset="-120"/>
              </a:rPr>
              <a:t>Same-prompt elicitation, not model-independent knowledge, explains most of the universal set.</a:t>
            </a:r>
            <a:endParaRPr lang="en-US" sz="1100" dirty="0"/>
          </a:p>
        </p:txBody>
      </p:sp>
      <p:sp>
        <p:nvSpPr>
          <p:cNvPr id="12" name="Shape 10"/>
          <p:cNvSpPr/>
          <p:nvPr/>
        </p:nvSpPr>
        <p:spPr>
          <a:xfrm>
            <a:off x="4663440" y="1691640"/>
            <a:ext cx="4023360" cy="2926080"/>
          </a:xfrm>
          <a:prstGeom prst="roundRect">
            <a:avLst>
              <a:gd name="adj" fmla="val 2500"/>
            </a:avLst>
          </a:prstGeom>
          <a:solidFill>
            <a:srgbClr val="F2F4F7"/>
          </a:solidFill>
          <a:ln w="12700">
            <a:solidFill>
              <a:srgbClr val="F2F4F7"/>
            </a:solidFill>
            <a:prstDash val="solid"/>
          </a:ln>
        </p:spPr>
      </p:sp>
      <p:sp>
        <p:nvSpPr>
          <p:cNvPr id="13" name="Text 11"/>
          <p:cNvSpPr txBox="1"/>
          <p:nvPr/>
        </p:nvSpPr>
        <p:spPr>
          <a:xfrm>
            <a:off x="4846320" y="1828800"/>
            <a:ext cx="3657600" cy="274320"/>
          </a:xfrm>
          <a:prstGeom prst="rect">
            <a:avLst/>
          </a:prstGeom>
          <a:noFill/>
          <a:ln/>
        </p:spPr>
        <p:txBody>
          <a:bodyPr wrap="square" lIns="0" tIns="0" rIns="0" bIns="0" rtlCol="0" anchor="t"/>
          <a:lstStyle/>
          <a:p>
            <a:pPr algn="l" indent="0" marL="0">
              <a:buNone/>
            </a:pPr>
            <a:r>
              <a:rPr lang="en-US" sz="1000" b="1" dirty="0">
                <a:solidFill>
                  <a:srgbClr val="3A7D7B"/>
                </a:solidFill>
                <a:latin typeface="Calibri" pitchFamily="34" charset="0"/>
                <a:ea typeface="Calibri" pitchFamily="34" charset="-122"/>
                <a:cs typeface="Calibri" pitchFamily="34" charset="-120"/>
              </a:rPr>
              <a:t>ALL NINE CELLS (WITH EXTENSIONS)</a:t>
            </a:r>
            <a:endParaRPr lang="en-US" sz="1000" dirty="0"/>
          </a:p>
        </p:txBody>
      </p:sp>
      <p:sp>
        <p:nvSpPr>
          <p:cNvPr id="14" name="Text 12"/>
          <p:cNvSpPr txBox="1"/>
          <p:nvPr/>
        </p:nvSpPr>
        <p:spPr>
          <a:xfrm>
            <a:off x="4846320" y="2103120"/>
            <a:ext cx="1188720" cy="685800"/>
          </a:xfrm>
          <a:prstGeom prst="rect">
            <a:avLst/>
          </a:prstGeom>
          <a:noFill/>
          <a:ln/>
        </p:spPr>
        <p:txBody>
          <a:bodyPr wrap="square" lIns="0" tIns="0" rIns="0" bIns="0" rtlCol="0" anchor="b"/>
          <a:lstStyle/>
          <a:p>
            <a:pPr algn="l" indent="0" marL="0">
              <a:buNone/>
            </a:pPr>
            <a:r>
              <a:rPr lang="en-US" sz="3000" b="1" dirty="0">
                <a:solidFill>
                  <a:srgbClr val="1C2331"/>
                </a:solidFill>
                <a:latin typeface="Cambria" pitchFamily="34" charset="0"/>
                <a:ea typeface="Cambria" pitchFamily="34" charset="-122"/>
                <a:cs typeface="Cambria" pitchFamily="34" charset="-120"/>
              </a:rPr>
              <a:t>0.038</a:t>
            </a:r>
            <a:endParaRPr lang="en-US" sz="3000" dirty="0"/>
          </a:p>
        </p:txBody>
      </p:sp>
      <p:sp>
        <p:nvSpPr>
          <p:cNvPr id="15" name="Text 13"/>
          <p:cNvSpPr txBox="1"/>
          <p:nvPr/>
        </p:nvSpPr>
        <p:spPr>
          <a:xfrm>
            <a:off x="4846320" y="2816352"/>
            <a:ext cx="118872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mean ordinary pairwise Jaccard over unique unregistered names</a:t>
            </a:r>
            <a:endParaRPr lang="en-US" sz="1100" dirty="0"/>
          </a:p>
        </p:txBody>
      </p:sp>
      <p:sp>
        <p:nvSpPr>
          <p:cNvPr id="16" name="Text 14"/>
          <p:cNvSpPr txBox="1"/>
          <p:nvPr/>
        </p:nvSpPr>
        <p:spPr>
          <a:xfrm>
            <a:off x="6126480" y="2103120"/>
            <a:ext cx="1097280" cy="685800"/>
          </a:xfrm>
          <a:prstGeom prst="rect">
            <a:avLst/>
          </a:prstGeom>
          <a:noFill/>
          <a:ln/>
        </p:spPr>
        <p:txBody>
          <a:bodyPr wrap="square" lIns="0" tIns="0" rIns="0" bIns="0" rtlCol="0" anchor="b"/>
          <a:lstStyle/>
          <a:p>
            <a:pPr algn="l" indent="0" marL="0">
              <a:buNone/>
            </a:pPr>
            <a:r>
              <a:rPr lang="en-US" sz="3000" b="1" dirty="0">
                <a:solidFill>
                  <a:srgbClr val="1C2331"/>
                </a:solidFill>
                <a:latin typeface="Cambria" pitchFamily="34" charset="0"/>
                <a:ea typeface="Cambria" pitchFamily="34" charset="-122"/>
                <a:cs typeface="Cambria" pitchFamily="34" charset="-120"/>
              </a:rPr>
              <a:t>2</a:t>
            </a:r>
            <a:endParaRPr lang="en-US" sz="3000" dirty="0"/>
          </a:p>
        </p:txBody>
      </p:sp>
      <p:sp>
        <p:nvSpPr>
          <p:cNvPr id="17" name="Text 15"/>
          <p:cNvSpPr txBox="1"/>
          <p:nvPr/>
        </p:nvSpPr>
        <p:spPr>
          <a:xfrm>
            <a:off x="6126480" y="2816352"/>
            <a:ext cx="109728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names shared by all nine models</a:t>
            </a:r>
            <a:endParaRPr lang="en-US" sz="1100" dirty="0"/>
          </a:p>
        </p:txBody>
      </p:sp>
      <p:sp>
        <p:nvSpPr>
          <p:cNvPr id="18" name="Text 16"/>
          <p:cNvSpPr txBox="1"/>
          <p:nvPr/>
        </p:nvSpPr>
        <p:spPr>
          <a:xfrm>
            <a:off x="7315200" y="2103120"/>
            <a:ext cx="1188720" cy="685800"/>
          </a:xfrm>
          <a:prstGeom prst="rect">
            <a:avLst/>
          </a:prstGeom>
          <a:noFill/>
          <a:ln/>
        </p:spPr>
        <p:txBody>
          <a:bodyPr wrap="square" lIns="0" tIns="0" rIns="0" bIns="0" rtlCol="0" anchor="b"/>
          <a:lstStyle/>
          <a:p>
            <a:pPr algn="l" indent="0" marL="0">
              <a:buNone/>
            </a:pPr>
            <a:r>
              <a:rPr lang="en-US" sz="3000" b="1" dirty="0">
                <a:solidFill>
                  <a:srgbClr val="E09F3E"/>
                </a:solidFill>
                <a:latin typeface="Cambria" pitchFamily="34" charset="0"/>
                <a:ea typeface="Cambria" pitchFamily="34" charset="-122"/>
                <a:cs typeface="Cambria" pitchFamily="34" charset="-120"/>
              </a:rPr>
              <a:t>1</a:t>
            </a:r>
            <a:endParaRPr lang="en-US" sz="3000" dirty="0"/>
          </a:p>
        </p:txBody>
      </p:sp>
      <p:sp>
        <p:nvSpPr>
          <p:cNvPr id="19" name="Text 17"/>
          <p:cNvSpPr txBox="1"/>
          <p:nvPr/>
        </p:nvSpPr>
        <p:spPr>
          <a:xfrm>
            <a:off x="7315200" y="2816352"/>
            <a:ext cx="1188720" cy="5029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of those with same-prompt support across all nine</a:t>
            </a:r>
            <a:endParaRPr lang="en-US" sz="1100" dirty="0"/>
          </a:p>
        </p:txBody>
      </p:sp>
      <p:sp>
        <p:nvSpPr>
          <p:cNvPr id="20" name="Text 18"/>
          <p:cNvSpPr txBox="1"/>
          <p:nvPr/>
        </p:nvSpPr>
        <p:spPr>
          <a:xfrm>
            <a:off x="4846320" y="3840480"/>
            <a:ext cx="3657600" cy="640080"/>
          </a:xfrm>
          <a:prstGeom prst="rect">
            <a:avLst/>
          </a:prstGeom>
          <a:noFill/>
          <a:ln/>
        </p:spPr>
        <p:txBody>
          <a:bodyPr wrap="square" lIns="0" tIns="0" rIns="0" bIns="0" rtlCol="0" anchor="t"/>
          <a:lstStyle/>
          <a:p>
            <a:pPr algn="l" indent="0" marL="0">
              <a:buNone/>
            </a:pPr>
            <a:r>
              <a:rPr lang="en-US" sz="1100" i="1" dirty="0">
                <a:solidFill>
                  <a:srgbClr val="3A7D7B"/>
                </a:solidFill>
                <a:latin typeface="Calibri" pitchFamily="34" charset="0"/>
                <a:ea typeface="Calibri" pitchFamily="34" charset="-122"/>
                <a:cs typeface="Calibri" pitchFamily="34" charset="-120"/>
              </a:rPr>
              <a:t>Report ordinary Jaccard beside aligned Jaccard over (name, dataset, prompt index) tuples before attributing overlap to training-corpus similarity.</a:t>
            </a:r>
            <a:endParaRPr lang="en-US" sz="1100" dirty="0"/>
          </a:p>
        </p:txBody>
      </p:sp>
      <p:sp>
        <p:nvSpPr>
          <p:cNvPr id="21" name="Text 19"/>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Candidate package names are deliberately withheld from every artifact because they are actionable slopsquatting targets.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EXTENSION  ·  QWEN 3.5 AND KIMI K2.7</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Kimi K2.7's 23% is a list-flood, not a uniform rate</a:t>
            </a:r>
            <a:endParaRPr lang="en-US" sz="2800" dirty="0"/>
          </a:p>
        </p:txBody>
      </p:sp>
      <p:pic>
        <p:nvPicPr>
          <p:cNvPr id="4" name="Image 0" descr="C:\MachineLearning\github\PackageHallucination\Experiments\figures\ollama_extension_position_volume.png">    </p:cNvPr>
          <p:cNvPicPr>
            <a:picLocks noChangeAspect="1"/>
          </p:cNvPicPr>
          <p:nvPr/>
        </p:nvPicPr>
        <p:blipFill>
          <a:blip r:embed="rId1"/>
          <a:stretch>
            <a:fillRect/>
          </a:stretch>
        </p:blipFill>
        <p:spPr>
          <a:xfrm>
            <a:off x="365760" y="1005840"/>
            <a:ext cx="5669280" cy="1837944"/>
          </a:xfrm>
          <a:prstGeom prst="rect">
            <a:avLst/>
          </a:prstGeom>
        </p:spPr>
      </p:pic>
      <p:sp>
        <p:nvSpPr>
          <p:cNvPr id="5" name="Shape 2"/>
          <p:cNvSpPr/>
          <p:nvPr/>
        </p:nvSpPr>
        <p:spPr>
          <a:xfrm>
            <a:off x="457200" y="2971800"/>
            <a:ext cx="5577840" cy="731520"/>
          </a:xfrm>
          <a:prstGeom prst="roundRect">
            <a:avLst>
              <a:gd name="adj" fmla="val 10000"/>
            </a:avLst>
          </a:prstGeom>
          <a:solidFill>
            <a:srgbClr val="F2F4F7"/>
          </a:solidFill>
          <a:ln w="12700">
            <a:solidFill>
              <a:srgbClr val="F2F4F7"/>
            </a:solidFill>
            <a:prstDash val="solid"/>
          </a:ln>
        </p:spPr>
      </p:sp>
      <p:sp>
        <p:nvSpPr>
          <p:cNvPr id="6" name="Text 3"/>
          <p:cNvSpPr txBox="1"/>
          <p:nvPr/>
        </p:nvSpPr>
        <p:spPr>
          <a:xfrm>
            <a:off x="640080" y="3044952"/>
            <a:ext cx="1828800" cy="274320"/>
          </a:xfrm>
          <a:prstGeom prst="rect">
            <a:avLst/>
          </a:prstGeom>
          <a:noFill/>
          <a:ln/>
        </p:spPr>
        <p:txBody>
          <a:bodyPr wrap="square" lIns="0" tIns="0" rIns="0" bIns="0" rtlCol="0" anchor="t"/>
          <a:lstStyle/>
          <a:p>
            <a:pPr algn="l" indent="0" marL="0">
              <a:buNone/>
            </a:pPr>
            <a:r>
              <a:rPr lang="en-US" sz="1200" b="1" dirty="0">
                <a:solidFill>
                  <a:srgbClr val="1C2331"/>
                </a:solidFill>
                <a:latin typeface="Calibri" pitchFamily="34" charset="0"/>
                <a:ea typeface="Calibri" pitchFamily="34" charset="-122"/>
                <a:cs typeface="Calibri" pitchFamily="34" charset="-120"/>
              </a:rPr>
              <a:t>Qwen 3.5 Cloud</a:t>
            </a:r>
            <a:endParaRPr lang="en-US" sz="1200" dirty="0"/>
          </a:p>
        </p:txBody>
      </p:sp>
      <p:sp>
        <p:nvSpPr>
          <p:cNvPr id="7" name="Text 4"/>
          <p:cNvSpPr txBox="1"/>
          <p:nvPr/>
        </p:nvSpPr>
        <p:spPr>
          <a:xfrm>
            <a:off x="640080" y="3300984"/>
            <a:ext cx="1828800" cy="365760"/>
          </a:xfrm>
          <a:prstGeom prst="rect">
            <a:avLst/>
          </a:prstGeom>
          <a:noFill/>
          <a:ln/>
        </p:spPr>
        <p:txBody>
          <a:bodyPr wrap="square" lIns="0" tIns="0" rIns="0" bIns="0" rtlCol="0" anchor="t"/>
          <a:lstStyle/>
          <a:p>
            <a:pPr algn="l" indent="0" marL="0">
              <a:buNone/>
            </a:pPr>
            <a:r>
              <a:rPr lang="en-US" sz="2000" b="1" dirty="0">
                <a:solidFill>
                  <a:srgbClr val="3A7D7B"/>
                </a:solidFill>
                <a:latin typeface="Cambria" pitchFamily="34" charset="0"/>
                <a:ea typeface="Cambria" pitchFamily="34" charset="-122"/>
                <a:cs typeface="Cambria" pitchFamily="34" charset="-120"/>
              </a:rPr>
              <a:t>2.77%</a:t>
            </a:r>
            <a:endParaRPr lang="en-US" sz="2000" dirty="0"/>
          </a:p>
        </p:txBody>
      </p:sp>
      <p:sp>
        <p:nvSpPr>
          <p:cNvPr id="8" name="Text 5"/>
          <p:cNvSpPr txBox="1"/>
          <p:nvPr/>
        </p:nvSpPr>
        <p:spPr>
          <a:xfrm>
            <a:off x="2468880" y="3063240"/>
            <a:ext cx="3474720" cy="594360"/>
          </a:xfrm>
          <a:prstGeom prst="rect">
            <a:avLst/>
          </a:prstGeom>
          <a:noFill/>
          <a:ln/>
        </p:spPr>
        <p:txBody>
          <a:bodyPr wrap="square" lIns="0" tIns="0" rIns="0" bIns="0" rtlCol="0" anchor="t"/>
          <a:lstStyle/>
          <a:p>
            <a:pPr algn="l" indent="0" marL="0">
              <a:buNone/>
            </a:pPr>
            <a:r>
              <a:rPr lang="en-US" sz="1000" dirty="0">
                <a:solidFill>
                  <a:srgbClr val="2E3A4F"/>
                </a:solidFill>
                <a:latin typeface="Calibri" pitchFamily="34" charset="0"/>
                <a:ea typeface="Calibri" pitchFamily="34" charset="-122"/>
                <a:cs typeface="Calibri" pitchFamily="34" charset="-120"/>
              </a:rPr>
              <a:t>(2.07–3.54); 7.88% prompt risk; zero cap hits; 2,782 parsed occurrences</a:t>
            </a:r>
            <a:endParaRPr lang="en-US" sz="1000" dirty="0"/>
          </a:p>
        </p:txBody>
      </p:sp>
      <p:sp>
        <p:nvSpPr>
          <p:cNvPr id="9" name="Shape 6"/>
          <p:cNvSpPr/>
          <p:nvPr/>
        </p:nvSpPr>
        <p:spPr>
          <a:xfrm>
            <a:off x="457200" y="3794760"/>
            <a:ext cx="5577840" cy="731520"/>
          </a:xfrm>
          <a:prstGeom prst="roundRect">
            <a:avLst>
              <a:gd name="adj" fmla="val 10000"/>
            </a:avLst>
          </a:prstGeom>
          <a:solidFill>
            <a:srgbClr val="F2F4F7"/>
          </a:solidFill>
          <a:ln w="12700">
            <a:solidFill>
              <a:srgbClr val="F2F4F7"/>
            </a:solidFill>
            <a:prstDash val="solid"/>
          </a:ln>
        </p:spPr>
      </p:sp>
      <p:sp>
        <p:nvSpPr>
          <p:cNvPr id="10" name="Text 7"/>
          <p:cNvSpPr txBox="1"/>
          <p:nvPr/>
        </p:nvSpPr>
        <p:spPr>
          <a:xfrm>
            <a:off x="640080" y="3867912"/>
            <a:ext cx="1828800" cy="274320"/>
          </a:xfrm>
          <a:prstGeom prst="rect">
            <a:avLst/>
          </a:prstGeom>
          <a:noFill/>
          <a:ln/>
        </p:spPr>
        <p:txBody>
          <a:bodyPr wrap="square" lIns="0" tIns="0" rIns="0" bIns="0" rtlCol="0" anchor="t"/>
          <a:lstStyle/>
          <a:p>
            <a:pPr algn="l" indent="0" marL="0">
              <a:buNone/>
            </a:pPr>
            <a:r>
              <a:rPr lang="en-US" sz="1200" b="1" dirty="0">
                <a:solidFill>
                  <a:srgbClr val="1C2331"/>
                </a:solidFill>
                <a:latin typeface="Calibri" pitchFamily="34" charset="0"/>
                <a:ea typeface="Calibri" pitchFamily="34" charset="-122"/>
                <a:cs typeface="Calibri" pitchFamily="34" charset="-120"/>
              </a:rPr>
              <a:t>Kimi K2.7 Code Cloud</a:t>
            </a:r>
            <a:endParaRPr lang="en-US" sz="1200" dirty="0"/>
          </a:p>
        </p:txBody>
      </p:sp>
      <p:sp>
        <p:nvSpPr>
          <p:cNvPr id="11" name="Text 8"/>
          <p:cNvSpPr txBox="1"/>
          <p:nvPr/>
        </p:nvSpPr>
        <p:spPr>
          <a:xfrm>
            <a:off x="640080" y="4123944"/>
            <a:ext cx="1828800" cy="365760"/>
          </a:xfrm>
          <a:prstGeom prst="rect">
            <a:avLst/>
          </a:prstGeom>
          <a:noFill/>
          <a:ln/>
        </p:spPr>
        <p:txBody>
          <a:bodyPr wrap="square" lIns="0" tIns="0" rIns="0" bIns="0" rtlCol="0" anchor="t"/>
          <a:lstStyle/>
          <a:p>
            <a:pPr algn="l" indent="0" marL="0">
              <a:buNone/>
            </a:pPr>
            <a:r>
              <a:rPr lang="en-US" sz="2000" b="1" dirty="0">
                <a:solidFill>
                  <a:srgbClr val="E09F3E"/>
                </a:solidFill>
                <a:latin typeface="Cambria" pitchFamily="34" charset="0"/>
                <a:ea typeface="Cambria" pitchFamily="34" charset="-122"/>
                <a:cs typeface="Cambria" pitchFamily="34" charset="-120"/>
              </a:rPr>
              <a:t>23.10%</a:t>
            </a:r>
            <a:endParaRPr lang="en-US" sz="2000" dirty="0"/>
          </a:p>
        </p:txBody>
      </p:sp>
      <p:sp>
        <p:nvSpPr>
          <p:cNvPr id="12" name="Text 9"/>
          <p:cNvSpPr txBox="1"/>
          <p:nvPr/>
        </p:nvSpPr>
        <p:spPr>
          <a:xfrm>
            <a:off x="2468880" y="3886200"/>
            <a:ext cx="3474720" cy="594360"/>
          </a:xfrm>
          <a:prstGeom prst="rect">
            <a:avLst/>
          </a:prstGeom>
          <a:noFill/>
          <a:ln/>
        </p:spPr>
        <p:txBody>
          <a:bodyPr wrap="square" lIns="0" tIns="0" rIns="0" bIns="0" rtlCol="0" anchor="t"/>
          <a:lstStyle/>
          <a:p>
            <a:pPr algn="l" indent="0" marL="0">
              <a:buNone/>
            </a:pPr>
            <a:r>
              <a:rPr lang="en-US" sz="1000" dirty="0">
                <a:solidFill>
                  <a:srgbClr val="2E3A4F"/>
                </a:solidFill>
                <a:latin typeface="Calibri" pitchFamily="34" charset="0"/>
                <a:ea typeface="Calibri" pitchFamily="34" charset="-122"/>
                <a:cs typeface="Calibri" pitchFamily="34" charset="-120"/>
              </a:rPr>
              <a:t>(20.19–26.19); 43.00% prompt risk; 323 cap hits; 111,842 parsed occurrences, 107,955 of them from Query 2</a:t>
            </a:r>
            <a:endParaRPr lang="en-US" sz="1000" dirty="0"/>
          </a:p>
        </p:txBody>
      </p:sp>
      <p:sp>
        <p:nvSpPr>
          <p:cNvPr id="13" name="Shape 10"/>
          <p:cNvSpPr/>
          <p:nvPr/>
        </p:nvSpPr>
        <p:spPr>
          <a:xfrm>
            <a:off x="6263640" y="1005840"/>
            <a:ext cx="2423160" cy="3611880"/>
          </a:xfrm>
          <a:prstGeom prst="roundRect">
            <a:avLst>
              <a:gd name="adj" fmla="val 3019"/>
            </a:avLst>
          </a:prstGeom>
          <a:solidFill>
            <a:srgbClr val="1C2331"/>
          </a:solidFill>
          <a:ln w="12700">
            <a:solidFill>
              <a:srgbClr val="1C2331"/>
            </a:solidFill>
            <a:prstDash val="solid"/>
          </a:ln>
        </p:spPr>
      </p:sp>
      <p:sp>
        <p:nvSpPr>
          <p:cNvPr id="14" name="Text 11"/>
          <p:cNvSpPr txBox="1"/>
          <p:nvPr/>
        </p:nvSpPr>
        <p:spPr>
          <a:xfrm>
            <a:off x="6446520" y="1143000"/>
            <a:ext cx="2103120" cy="274320"/>
          </a:xfrm>
          <a:prstGeom prst="rect">
            <a:avLst/>
          </a:prstGeom>
          <a:noFill/>
          <a:ln/>
        </p:spPr>
        <p:txBody>
          <a:bodyPr wrap="square" lIns="0" tIns="0" rIns="0" bIns="0" rtlCol="0" anchor="t"/>
          <a:lstStyle/>
          <a:p>
            <a:pPr algn="l" indent="0" marL="0">
              <a:buNone/>
            </a:pPr>
            <a:r>
              <a:rPr lang="en-US" sz="1000" b="1" dirty="0">
                <a:solidFill>
                  <a:srgbClr val="E09F3E"/>
                </a:solidFill>
                <a:latin typeface="Calibri" pitchFamily="34" charset="0"/>
                <a:ea typeface="Calibri" pitchFamily="34" charset="-122"/>
                <a:cs typeface="Calibri" pitchFamily="34" charset="-120"/>
              </a:rPr>
              <a:t>MECHANISM</a:t>
            </a:r>
            <a:endParaRPr lang="en-US" sz="1000" dirty="0"/>
          </a:p>
        </p:txBody>
      </p:sp>
      <p:sp>
        <p:nvSpPr>
          <p:cNvPr id="15" name="Text 12"/>
          <p:cNvSpPr txBox="1"/>
          <p:nvPr/>
        </p:nvSpPr>
        <p:spPr>
          <a:xfrm>
            <a:off x="6446520" y="1463040"/>
            <a:ext cx="2103120" cy="3108960"/>
          </a:xfrm>
          <a:prstGeom prst="rect">
            <a:avLst/>
          </a:prstGeom>
          <a:noFill/>
          <a:ln/>
        </p:spPr>
        <p:txBody>
          <a:bodyPr wrap="square" lIns="0" tIns="0" rIns="0" bIns="0" rtlCol="0" anchor="t"/>
          <a:lstStyle/>
          <a:p>
            <a:pPr marL="177800" indent="-177800">
              <a:spcAft>
                <a:spcPts val="400"/>
              </a:spcAft>
              <a:buSzPct val="100000"/>
              <a:buChar char="•"/>
            </a:pPr>
            <a:r>
              <a:rPr lang="en-US" sz="900" dirty="0">
                <a:solidFill>
                  <a:srgbClr val="E1E5EC"/>
                </a:solidFill>
                <a:latin typeface="Calibri" pitchFamily="34" charset="0"/>
                <a:ea typeface="Calibri" pitchFamily="34" charset="-122"/>
                <a:cs typeface="Calibri" pitchFamily="34" charset="-120"/>
              </a:rPr>
              <a:t>Lists of at most ten packages score 4.95%; responses above 25 packages supply 106,980 occurrences at 23.93%</a:t>
            </a:r>
            <a:endParaRPr lang="en-US" sz="900" dirty="0"/>
          </a:p>
          <a:p>
            <a:pPr marL="177800" indent="-177800">
              <a:spcAft>
                <a:spcPts val="400"/>
              </a:spcAft>
              <a:buSzPct val="100000"/>
              <a:buChar char="•"/>
            </a:pPr>
            <a:r>
              <a:rPr lang="en-US" sz="900" dirty="0">
                <a:solidFill>
                  <a:srgbClr val="E1E5EC"/>
                </a:solidFill>
                <a:latin typeface="Calibri" pitchFamily="34" charset="0"/>
                <a:ea typeface="Calibri" pitchFamily="34" charset="-122"/>
                <a:cs typeface="Calibri" pitchFamily="34" charset="-120"/>
              </a:rPr>
              <a:t>Query 2 rate rises from about 5% through position 25 to 10.85%, 15.03%, and 27.33% at positions 26–50, 51–100, and 101+</a:t>
            </a:r>
            <a:endParaRPr lang="en-US" sz="900" dirty="0"/>
          </a:p>
          <a:p>
            <a:pPr marL="177800" indent="-177800">
              <a:spcAft>
                <a:spcPts val="400"/>
              </a:spcAft>
              <a:buSzPct val="100000"/>
              <a:buChar char="•"/>
            </a:pPr>
            <a:r>
              <a:rPr lang="en-US" sz="900" dirty="0">
                <a:solidFill>
                  <a:srgbClr val="E1E5EC"/>
                </a:solidFill>
                <a:latin typeface="Calibri" pitchFamily="34" charset="0"/>
                <a:ea typeface="Calibri" pitchFamily="34" charset="-122"/>
                <a:cs typeface="Calibri" pitchFamily="34" charset="-120"/>
              </a:rPr>
              <a:t>Unweighted response mean is 8.36% and prompt-macro mean 11.78%; both medians are zero</a:t>
            </a:r>
            <a:endParaRPr lang="en-US" sz="900" dirty="0"/>
          </a:p>
          <a:p>
            <a:pPr marL="177800" indent="-177800">
              <a:spcAft>
                <a:spcPts val="400"/>
              </a:spcAft>
              <a:buSzPct val="100000"/>
              <a:buChar char="•"/>
            </a:pPr>
            <a:r>
              <a:rPr lang="en-US" sz="900" dirty="0">
                <a:solidFill>
                  <a:srgbClr val="E1E5EC"/>
                </a:solidFill>
                <a:latin typeface="Calibri" pitchFamily="34" charset="0"/>
                <a:ea typeface="Calibri" pitchFamily="34" charset="-122"/>
                <a:cs typeface="Calibri" pitchFamily="34" charset="-120"/>
              </a:rPr>
              <a:t>234 responses above 100 packages are not a fixed catalog: mean pairwise Jaccard 0.066</a:t>
            </a:r>
            <a:endParaRPr lang="en-US" sz="900" dirty="0"/>
          </a:p>
          <a:p>
            <a:pPr marL="177800" indent="-177800">
              <a:spcAft>
                <a:spcPts val="400"/>
              </a:spcAft>
              <a:buSzPct val="100000"/>
              <a:buChar char="•"/>
            </a:pPr>
            <a:r>
              <a:rPr lang="en-US" sz="900" dirty="0">
                <a:solidFill>
                  <a:srgbClr val="E1E5EC"/>
                </a:solidFill>
                <a:latin typeface="Calibri" pitchFamily="34" charset="0"/>
                <a:ea typeface="Calibri" pitchFamily="34" charset="-122"/>
                <a:cs typeface="Calibri" pitchFamily="34" charset="-120"/>
              </a:rPr>
              <a:t>Exact cap-hit ids were not retained, so exclusion uses a longest-response proxy. K3 fixed that instrumentation.</a:t>
            </a:r>
            <a:endParaRPr lang="en-US" sz="900" dirty="0"/>
          </a:p>
        </p:txBody>
      </p:sp>
      <p:sp>
        <p:nvSpPr>
          <p:cNvPr id="16" name="Text 13"/>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Separately preregistered 13-comparison Holm family; 10 survive the original convention, 9 the recentered sensitivity. Source: OLLAMA_CLOUD_EXTENSION_RESULTS.md and POST_ANALYSIS.md.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RQ7  ·  KIMI K3 SUCCESSOR CELL</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K3: safer typical prompts, worse headline</a:t>
            </a:r>
            <a:endParaRPr lang="en-US" sz="2800" dirty="0"/>
          </a:p>
        </p:txBody>
      </p:sp>
      <p:pic>
        <p:nvPicPr>
          <p:cNvPr id="4" name="Image 0" descr="C:\MachineLearning\github\PackageHallucination\Experiments\figures\kimi_k2_7_vs_k3_mechanism.png">    </p:cNvPr>
          <p:cNvPicPr>
            <a:picLocks noChangeAspect="1"/>
          </p:cNvPicPr>
          <p:nvPr/>
        </p:nvPicPr>
        <p:blipFill>
          <a:blip r:embed="rId1"/>
          <a:stretch>
            <a:fillRect/>
          </a:stretch>
        </p:blipFill>
        <p:spPr>
          <a:xfrm>
            <a:off x="365760" y="1005840"/>
            <a:ext cx="5394960" cy="1719072"/>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834640"/>
          <a:ext cx="5303520" cy="914400"/>
        </p:xfrm>
        <a:graphic>
          <a:graphicData uri="http://schemas.openxmlformats.org/drawingml/2006/table">
            <a:tbl>
              <a:tblPr/>
              <a:tblGrid>
                <a:gridCol w="2926080"/>
                <a:gridCol w="1188720"/>
                <a:gridCol w="1188720"/>
              </a:tblGrid>
              <a:tr h="22402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Query 2 diagnostic</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Kimi K2.7</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Kimi K3</a:t>
                      </a:r>
                      <a:endParaRPr lang="en-US" sz="90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1C2331"/>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Occurrence-weighted rate (primary)</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23.10%</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09F3E"/>
                          </a:solidFill>
                          <a:latin typeface="Calibri" pitchFamily="34" charset="0"/>
                          <a:ea typeface="Calibri" pitchFamily="34" charset="-122"/>
                          <a:cs typeface="Calibri" pitchFamily="34" charset="-120"/>
                        </a:rPr>
                        <a:t>33.30%</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Prompt risk</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43.00%</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50" b="1" dirty="0">
                          <a:solidFill>
                            <a:srgbClr val="3A7D7B"/>
                          </a:solidFill>
                          <a:latin typeface="Calibri" pitchFamily="34" charset="0"/>
                          <a:ea typeface="Calibri" pitchFamily="34" charset="-122"/>
                          <a:cs typeface="Calibri" pitchFamily="34" charset="-120"/>
                        </a:rPr>
                        <a:t>21.50%</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Response-macro mean</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8.36%</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3A7D7B"/>
                          </a:solidFill>
                          <a:latin typeface="Calibri" pitchFamily="34" charset="0"/>
                          <a:ea typeface="Calibri" pitchFamily="34" charset="-122"/>
                          <a:cs typeface="Calibri" pitchFamily="34" charset="-120"/>
                        </a:rPr>
                        <a:t>4.18%</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Responses with 100+ packages</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234</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50" b="1" dirty="0">
                          <a:solidFill>
                            <a:srgbClr val="3A7D7B"/>
                          </a:solidFill>
                          <a:latin typeface="Calibri" pitchFamily="34" charset="0"/>
                          <a:ea typeface="Calibri" pitchFamily="34" charset="-122"/>
                          <a:cs typeface="Calibri" pitchFamily="34" charset="-120"/>
                        </a:rPr>
                        <a:t>54</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Package cap hits / proxies</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323</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3A7D7B"/>
                          </a:solidFill>
                          <a:latin typeface="Calibri" pitchFamily="34" charset="0"/>
                          <a:ea typeface="Calibri" pitchFamily="34" charset="-122"/>
                          <a:cs typeface="Calibri" pitchFamily="34" charset="-120"/>
                        </a:rPr>
                        <a:t>46</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Rate inside the cap tail</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23.81%</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c>
                  <a:txBody>
                    <a:bodyPr/>
                    <a:lstStyle/>
                    <a:p>
                      <a:pPr algn="r" indent="0" marL="0">
                        <a:buNone/>
                      </a:pPr>
                      <a:r>
                        <a:rPr lang="en-US" sz="950" b="1" dirty="0">
                          <a:solidFill>
                            <a:srgbClr val="E09F3E"/>
                          </a:solidFill>
                          <a:latin typeface="Calibri" pitchFamily="34" charset="0"/>
                          <a:ea typeface="Calibri" pitchFamily="34" charset="-122"/>
                          <a:cs typeface="Calibri" pitchFamily="34" charset="-120"/>
                        </a:rPr>
                        <a:t>52.10%</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2F4F7"/>
                    </a:solidFill>
                  </a:tcPr>
                </a:tc>
              </a:tr>
              <a:tr h="224028">
                <a:tc>
                  <a:txBody>
                    <a:bodyPr/>
                    <a:lstStyle/>
                    <a:p>
                      <a:pPr algn="l" indent="0" marL="0">
                        <a:buNone/>
                      </a:pPr>
                      <a:r>
                        <a:rPr lang="en-US" sz="950" dirty="0">
                          <a:solidFill>
                            <a:srgbClr val="2E3A4F"/>
                          </a:solidFill>
                          <a:latin typeface="Calibri" pitchFamily="34" charset="0"/>
                          <a:ea typeface="Calibri" pitchFamily="34" charset="-122"/>
                          <a:cs typeface="Calibri" pitchFamily="34" charset="-120"/>
                        </a:rPr>
                        <a:t>Rate excluding the cap tail (post hoc)</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dirty="0">
                          <a:solidFill>
                            <a:srgbClr val="2E3A4F"/>
                          </a:solidFill>
                          <a:latin typeface="Calibri" pitchFamily="34" charset="0"/>
                          <a:ea typeface="Calibri" pitchFamily="34" charset="-122"/>
                          <a:cs typeface="Calibri" pitchFamily="34" charset="-120"/>
                        </a:rPr>
                        <a:t>13.18%</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6B7280"/>
                          </a:solidFill>
                          <a:latin typeface="Calibri" pitchFamily="34" charset="0"/>
                          <a:ea typeface="Calibri" pitchFamily="34" charset="-122"/>
                          <a:cs typeface="Calibri" pitchFamily="34" charset="-120"/>
                        </a:rPr>
                        <a:t>13.11%</a:t>
                      </a:r>
                      <a:endParaRPr lang="en-US" sz="950" dirty="0">
                        <a:latin typeface="Calibri" charset="0"/>
                        <a:ea typeface="Calibri" charset="0"/>
                        <a:cs typeface="Calibri" charset="0"/>
                      </a:endParaRPr>
                    </a:p>
                  </a:txBody>
                  <a:tcPr marL="91440" marR="91440" marT="45720" marB="45720" anchor="ctr">
                    <a:lnL w="6350" cap="flat" cmpd="sng" algn="ctr">
                      <a:solidFill>
                        <a:srgbClr val="E6E9EF"/>
                      </a:solidFill>
                      <a:prstDash val="solid"/>
                      <a:round/>
                      <a:headEnd type="none" w="med" len="med"/>
                      <a:tailEnd type="none" w="med" len="med"/>
                    </a:lnL>
                    <a:lnR w="6350" cap="flat" cmpd="sng" algn="ctr">
                      <a:solidFill>
                        <a:srgbClr val="E6E9EF"/>
                      </a:solidFill>
                      <a:prstDash val="solid"/>
                      <a:round/>
                      <a:headEnd type="none" w="med" len="med"/>
                      <a:tailEnd type="none" w="med" len="med"/>
                    </a:lnR>
                    <a:lnT w="6350" cap="flat" cmpd="sng" algn="ctr">
                      <a:solidFill>
                        <a:srgbClr val="E6E9EF"/>
                      </a:solidFill>
                      <a:prstDash val="solid"/>
                      <a:round/>
                      <a:headEnd type="none" w="med" len="med"/>
                      <a:tailEnd type="none" w="med" len="med"/>
                    </a:lnT>
                    <a:lnB w="6350" cap="flat" cmpd="sng" algn="ctr">
                      <a:solidFill>
                        <a:srgbClr val="E6E9EF"/>
                      </a:solidFill>
                      <a:prstDash val="solid"/>
                      <a:round/>
                      <a:headEnd type="none" w="med" len="med"/>
                      <a:tailEnd type="none" w="med" len="med"/>
                    </a:lnB>
                    <a:solidFill>
                      <a:srgbClr val="FFFFFF"/>
                    </a:solidFill>
                  </a:tcPr>
                </a:tc>
              </a:tr>
            </a:tbl>
          </a:graphicData>
        </a:graphic>
      </p:graphicFrame>
      <p:sp>
        <p:nvSpPr>
          <p:cNvPr id="6" name="Shape 2"/>
          <p:cNvSpPr/>
          <p:nvPr/>
        </p:nvSpPr>
        <p:spPr>
          <a:xfrm>
            <a:off x="5989320" y="1005840"/>
            <a:ext cx="2697480" cy="3611880"/>
          </a:xfrm>
          <a:prstGeom prst="roundRect">
            <a:avLst>
              <a:gd name="adj" fmla="val 2712"/>
            </a:avLst>
          </a:prstGeom>
          <a:solidFill>
            <a:srgbClr val="F2F4F7"/>
          </a:solidFill>
          <a:ln w="12700">
            <a:solidFill>
              <a:srgbClr val="F2F4F7"/>
            </a:solidFill>
            <a:prstDash val="solid"/>
          </a:ln>
        </p:spPr>
      </p:sp>
      <p:sp>
        <p:nvSpPr>
          <p:cNvPr id="7" name="Text 3"/>
          <p:cNvSpPr txBox="1"/>
          <p:nvPr/>
        </p:nvSpPr>
        <p:spPr>
          <a:xfrm>
            <a:off x="6172200" y="1143000"/>
            <a:ext cx="2377440" cy="320040"/>
          </a:xfrm>
          <a:prstGeom prst="rect">
            <a:avLst/>
          </a:prstGeom>
          <a:noFill/>
          <a:ln/>
        </p:spPr>
        <p:txBody>
          <a:bodyPr wrap="square" lIns="0" tIns="0" rIns="0" bIns="0" rtlCol="0" anchor="t"/>
          <a:lstStyle/>
          <a:p>
            <a:pPr algn="l" indent="0" marL="0">
              <a:buNone/>
            </a:pPr>
            <a:r>
              <a:rPr lang="en-US" sz="1300" b="1" dirty="0">
                <a:solidFill>
                  <a:srgbClr val="1C2331"/>
                </a:solidFill>
                <a:latin typeface="Calibri" pitchFamily="34" charset="0"/>
                <a:ea typeface="Calibri" pitchFamily="34" charset="-122"/>
                <a:cs typeface="Calibri" pitchFamily="34" charset="-120"/>
              </a:rPr>
              <a:t>The aggregation reversal</a:t>
            </a:r>
            <a:endParaRPr lang="en-US" sz="1300" dirty="0"/>
          </a:p>
        </p:txBody>
      </p:sp>
      <p:sp>
        <p:nvSpPr>
          <p:cNvPr id="8" name="Text 4"/>
          <p:cNvSpPr txBox="1"/>
          <p:nvPr/>
        </p:nvSpPr>
        <p:spPr>
          <a:xfrm>
            <a:off x="6172200" y="1481328"/>
            <a:ext cx="2377440" cy="3108960"/>
          </a:xfrm>
          <a:prstGeom prst="rect">
            <a:avLst/>
          </a:prstGeom>
          <a:noFill/>
          <a:ln/>
        </p:spPr>
        <p:txBody>
          <a:bodyPr wrap="square" lIns="0" tIns="0" rIns="0" bIns="0" rtlCol="0" anchor="t"/>
          <a:lstStyle/>
          <a:p>
            <a:pPr marL="177800" indent="-177800">
              <a:spcAft>
                <a:spcPts val="400"/>
              </a:spcAft>
              <a:buSzPct val="100000"/>
              <a:buChar char="•"/>
            </a:pPr>
            <a:r>
              <a:rPr lang="en-US" sz="900" dirty="0">
                <a:solidFill>
                  <a:srgbClr val="2E3A4F"/>
                </a:solidFill>
                <a:latin typeface="Calibri" pitchFamily="34" charset="0"/>
                <a:ea typeface="Calibri" pitchFamily="34" charset="-122"/>
                <a:cs typeface="Calibri" pitchFamily="34" charset="-120"/>
              </a:rPr>
              <a:t>46 capped package responses are 2.88% of responses but supply 51.79% of parsed occurrences and 81.02% of unregistered ones</a:t>
            </a:r>
            <a:endParaRPr lang="en-US" sz="900" dirty="0"/>
          </a:p>
          <a:p>
            <a:pPr marL="177800" indent="-177800">
              <a:spcAft>
                <a:spcPts val="400"/>
              </a:spcAft>
              <a:buSzPct val="100000"/>
              <a:buChar char="•"/>
            </a:pPr>
            <a:r>
              <a:rPr lang="en-US" sz="900" dirty="0">
                <a:solidFill>
                  <a:srgbClr val="2E3A4F"/>
                </a:solidFill>
                <a:latin typeface="Calibri" pitchFamily="34" charset="0"/>
                <a:ea typeface="Calibri" pitchFamily="34" charset="-122"/>
                <a:cs typeface="Calibri" pitchFamily="34" charset="-120"/>
              </a:rPr>
              <a:t>Query 1 (packages for the generated code) is 1.76%; Query 2 (open recommendation) is 34.97%</a:t>
            </a:r>
            <a:endParaRPr lang="en-US" sz="900" dirty="0"/>
          </a:p>
          <a:p>
            <a:pPr marL="177800" indent="-177800">
              <a:spcAft>
                <a:spcPts val="400"/>
              </a:spcAft>
              <a:buSzPct val="100000"/>
              <a:buChar char="•"/>
            </a:pPr>
            <a:r>
              <a:rPr lang="en-US" sz="900" dirty="0">
                <a:solidFill>
                  <a:srgbClr val="2E3A4F"/>
                </a:solidFill>
                <a:latin typeface="Calibri" pitchFamily="34" charset="0"/>
                <a:ea typeface="Calibri" pitchFamily="34" charset="-122"/>
                <a:cs typeface="Calibri" pitchFamily="34" charset="-120"/>
              </a:rPr>
              <a:t>K2.7 minus K3 is −10.20 points (−16.43 to −3.44); all eight adjusted comparisons put K3 highest</a:t>
            </a:r>
            <a:endParaRPr lang="en-US" sz="900" dirty="0"/>
          </a:p>
          <a:p>
            <a:pPr marL="177800" indent="-177800">
              <a:spcAft>
                <a:spcPts val="400"/>
              </a:spcAft>
              <a:buSzPct val="100000"/>
              <a:buChar char="•"/>
            </a:pPr>
            <a:r>
              <a:rPr lang="en-US" sz="900" dirty="0">
                <a:solidFill>
                  <a:srgbClr val="2E3A4F"/>
                </a:solidFill>
                <a:latin typeface="Calibri" pitchFamily="34" charset="0"/>
                <a:ea typeface="Calibri" pitchFamily="34" charset="-122"/>
                <a:cs typeface="Calibri" pitchFamily="34" charset="-120"/>
              </a:rPr>
              <a:t>The 54 K3 floods hold 8,010 unique unregistered names with pairwise Jaccard 0.0011: not a repeated catalog or a parser loop</a:t>
            </a:r>
            <a:endParaRPr lang="en-US" sz="900" dirty="0"/>
          </a:p>
          <a:p>
            <a:pPr marL="177800" indent="-177800">
              <a:spcAft>
                <a:spcPts val="400"/>
              </a:spcAft>
              <a:buSzPct val="100000"/>
              <a:buChar char="•"/>
            </a:pPr>
            <a:r>
              <a:rPr lang="en-US" sz="900" dirty="0">
                <a:solidFill>
                  <a:srgbClr val="2E3A4F"/>
                </a:solidFill>
                <a:latin typeface="Calibri" pitchFamily="34" charset="0"/>
                <a:ea typeface="Calibri" pitchFamily="34" charset="-122"/>
                <a:cs typeface="Calibri" pitchFamily="34" charset="-120"/>
              </a:rPr>
              <a:t>22 prompts flood in both models vs 15.8 expected (odds ratio 1.7): prompt susceptibility contributes but does not determine the tail</a:t>
            </a:r>
            <a:endParaRPr lang="en-US" sz="900" dirty="0"/>
          </a:p>
        </p:txBody>
      </p:sp>
      <p:sp>
        <p:nvSpPr>
          <p:cNvPr id="9" name="Text 5"/>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2,400 of 2,400 calls, zero errors, one served id, $16.27 analytic spend. Design attested pre-outcome; not cryptographically preregistered. Source: KIMI_K3_EXTENSION_RESULTS.md, KIMI_K2_7_VS_K3_POST_ANALYSIS.md.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What this changes about evaluation</a:t>
            </a:r>
            <a:endParaRPr lang="en-US" sz="2800" dirty="0"/>
          </a:p>
        </p:txBody>
      </p:sp>
      <p:sp>
        <p:nvSpPr>
          <p:cNvPr id="4" name="Shape 2"/>
          <p:cNvSpPr/>
          <p:nvPr/>
        </p:nvSpPr>
        <p:spPr>
          <a:xfrm>
            <a:off x="457200" y="1097280"/>
            <a:ext cx="2651760" cy="3520440"/>
          </a:xfrm>
          <a:prstGeom prst="roundRect">
            <a:avLst>
              <a:gd name="adj" fmla="val 2759"/>
            </a:avLst>
          </a:prstGeom>
          <a:solidFill>
            <a:srgbClr val="F2F4F7"/>
          </a:solidFill>
          <a:ln w="12700">
            <a:solidFill>
              <a:srgbClr val="F2F4F7"/>
            </a:solidFill>
            <a:prstDash val="solid"/>
          </a:ln>
        </p:spPr>
      </p:sp>
      <p:sp>
        <p:nvSpPr>
          <p:cNvPr id="5" name="Shape 3"/>
          <p:cNvSpPr/>
          <p:nvPr/>
        </p:nvSpPr>
        <p:spPr>
          <a:xfrm>
            <a:off x="640080" y="1280160"/>
            <a:ext cx="384048" cy="384048"/>
          </a:xfrm>
          <a:prstGeom prst="ellipse">
            <a:avLst/>
          </a:prstGeom>
          <a:solidFill>
            <a:srgbClr val="E09F3E"/>
          </a:solidFill>
          <a:ln w="12700">
            <a:solidFill>
              <a:srgbClr val="E09F3E"/>
            </a:solidFill>
            <a:prstDash val="solid"/>
          </a:ln>
        </p:spPr>
      </p:sp>
      <p:sp>
        <p:nvSpPr>
          <p:cNvPr id="6" name="Text 4"/>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43000" y="1280160"/>
            <a:ext cx="1920240" cy="384048"/>
          </a:xfrm>
          <a:prstGeom prst="rect">
            <a:avLst/>
          </a:prstGeom>
          <a:noFill/>
          <a:ln/>
        </p:spPr>
        <p:txBody>
          <a:bodyPr wrap="square" lIns="0" tIns="0" rIns="0" bIns="0" rtlCol="0" anchor="ctr"/>
          <a:lstStyle/>
          <a:p>
            <a:pPr algn="l" indent="0" marL="0">
              <a:buNone/>
            </a:pPr>
            <a:r>
              <a:rPr lang="en-US" sz="1400" b="1" dirty="0">
                <a:solidFill>
                  <a:srgbClr val="1C2331"/>
                </a:solidFill>
                <a:latin typeface="Calibri" pitchFamily="34" charset="0"/>
                <a:ea typeface="Calibri" pitchFamily="34" charset="-122"/>
                <a:cs typeface="Calibri" pitchFamily="34" charset="-120"/>
              </a:rPr>
              <a:t>Version the instrument</a:t>
            </a:r>
            <a:endParaRPr lang="en-US" sz="1400" dirty="0"/>
          </a:p>
        </p:txBody>
      </p:sp>
      <p:sp>
        <p:nvSpPr>
          <p:cNvPr id="8" name="Text 6"/>
          <p:cNvSpPr txBox="1"/>
          <p:nvPr/>
        </p:nvSpPr>
        <p:spPr>
          <a:xfrm>
            <a:off x="640080" y="1828800"/>
            <a:ext cx="2286000" cy="27432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State the parser with every rate and report malformed and empty coverage beside it</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Date and digest the registry snapshot like a model artifact; score against frozen and current snapshots</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Normalize control tokens at the transport layer and log them</a:t>
            </a:r>
            <a:endParaRPr lang="en-US" sz="1050" dirty="0"/>
          </a:p>
        </p:txBody>
      </p:sp>
      <p:sp>
        <p:nvSpPr>
          <p:cNvPr id="9" name="Shape 7"/>
          <p:cNvSpPr/>
          <p:nvPr/>
        </p:nvSpPr>
        <p:spPr>
          <a:xfrm>
            <a:off x="3246120" y="1097280"/>
            <a:ext cx="2651760" cy="3520440"/>
          </a:xfrm>
          <a:prstGeom prst="roundRect">
            <a:avLst>
              <a:gd name="adj" fmla="val 2759"/>
            </a:avLst>
          </a:prstGeom>
          <a:solidFill>
            <a:srgbClr val="F2F4F7"/>
          </a:solidFill>
          <a:ln w="12700">
            <a:solidFill>
              <a:srgbClr val="F2F4F7"/>
            </a:solidFill>
            <a:prstDash val="solid"/>
          </a:ln>
        </p:spPr>
      </p:sp>
      <p:sp>
        <p:nvSpPr>
          <p:cNvPr id="10" name="Shape 8"/>
          <p:cNvSpPr/>
          <p:nvPr/>
        </p:nvSpPr>
        <p:spPr>
          <a:xfrm>
            <a:off x="3429000" y="1280160"/>
            <a:ext cx="384048" cy="384048"/>
          </a:xfrm>
          <a:prstGeom prst="ellipse">
            <a:avLst/>
          </a:prstGeom>
          <a:solidFill>
            <a:srgbClr val="3A7D7B"/>
          </a:solidFill>
          <a:ln w="12700">
            <a:solidFill>
              <a:srgbClr val="3A7D7B"/>
            </a:solidFill>
            <a:prstDash val="solid"/>
          </a:ln>
        </p:spPr>
      </p:sp>
      <p:sp>
        <p:nvSpPr>
          <p:cNvPr id="11" name="Text 9"/>
          <p:cNvSpPr txBox="1"/>
          <p:nvPr/>
        </p:nvSpPr>
        <p:spPr>
          <a:xfrm>
            <a:off x="342900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931920" y="1280160"/>
            <a:ext cx="1920240" cy="384048"/>
          </a:xfrm>
          <a:prstGeom prst="rect">
            <a:avLst/>
          </a:prstGeom>
          <a:noFill/>
          <a:ln/>
        </p:spPr>
        <p:txBody>
          <a:bodyPr wrap="square" lIns="0" tIns="0" rIns="0" bIns="0" rtlCol="0" anchor="ctr"/>
          <a:lstStyle/>
          <a:p>
            <a:pPr algn="l" indent="0" marL="0">
              <a:buNone/>
            </a:pPr>
            <a:r>
              <a:rPr lang="en-US" sz="1400" b="1" dirty="0">
                <a:solidFill>
                  <a:srgbClr val="1C2331"/>
                </a:solidFill>
                <a:latin typeface="Calibri" pitchFamily="34" charset="0"/>
                <a:ea typeface="Calibri" pitchFamily="34" charset="-122"/>
                <a:cs typeface="Calibri" pitchFamily="34" charset="-120"/>
              </a:rPr>
              <a:t>Cluster by prompt</a:t>
            </a:r>
            <a:endParaRPr lang="en-US" sz="1400" dirty="0"/>
          </a:p>
        </p:txBody>
      </p:sp>
      <p:sp>
        <p:nvSpPr>
          <p:cNvPr id="13" name="Text 11"/>
          <p:cNvSpPr txBox="1"/>
          <p:nvPr/>
        </p:nvSpPr>
        <p:spPr>
          <a:xfrm>
            <a:off x="3429000" y="1828800"/>
            <a:ext cx="2286000" cy="27432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Per-package observations are not independent; use prompt-cluster intervals stratified by dataset</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Pair comparisons by prompt and correct across the family</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Co-report Query 1 and Query 2: they are measurement channels, not replicates</a:t>
            </a:r>
            <a:endParaRPr lang="en-US" sz="1050" dirty="0"/>
          </a:p>
        </p:txBody>
      </p:sp>
      <p:sp>
        <p:nvSpPr>
          <p:cNvPr id="14" name="Shape 12"/>
          <p:cNvSpPr/>
          <p:nvPr/>
        </p:nvSpPr>
        <p:spPr>
          <a:xfrm>
            <a:off x="6035040" y="1097280"/>
            <a:ext cx="2651760" cy="3520440"/>
          </a:xfrm>
          <a:prstGeom prst="roundRect">
            <a:avLst>
              <a:gd name="adj" fmla="val 2759"/>
            </a:avLst>
          </a:prstGeom>
          <a:solidFill>
            <a:srgbClr val="F2F4F7"/>
          </a:solidFill>
          <a:ln w="12700">
            <a:solidFill>
              <a:srgbClr val="F2F4F7"/>
            </a:solidFill>
            <a:prstDash val="solid"/>
          </a:ln>
        </p:spPr>
      </p:sp>
      <p:sp>
        <p:nvSpPr>
          <p:cNvPr id="15" name="Shape 13"/>
          <p:cNvSpPr/>
          <p:nvPr/>
        </p:nvSpPr>
        <p:spPr>
          <a:xfrm>
            <a:off x="6217920" y="1280160"/>
            <a:ext cx="384048" cy="384048"/>
          </a:xfrm>
          <a:prstGeom prst="ellipse">
            <a:avLst/>
          </a:prstGeom>
          <a:solidFill>
            <a:srgbClr val="B5432F"/>
          </a:solidFill>
          <a:ln w="12700">
            <a:solidFill>
              <a:srgbClr val="B5432F"/>
            </a:solidFill>
            <a:prstDash val="solid"/>
          </a:ln>
        </p:spPr>
      </p:sp>
      <p:sp>
        <p:nvSpPr>
          <p:cNvPr id="16" name="Text 14"/>
          <p:cNvSpPr txBox="1"/>
          <p:nvPr/>
        </p:nvSpPr>
        <p:spPr>
          <a:xfrm>
            <a:off x="621792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720840" y="1280160"/>
            <a:ext cx="1920240" cy="384048"/>
          </a:xfrm>
          <a:prstGeom prst="rect">
            <a:avLst/>
          </a:prstGeom>
          <a:noFill/>
          <a:ln/>
        </p:spPr>
        <p:txBody>
          <a:bodyPr wrap="square" lIns="0" tIns="0" rIns="0" bIns="0" rtlCol="0" anchor="ctr"/>
          <a:lstStyle/>
          <a:p>
            <a:pPr algn="l" indent="0" marL="0">
              <a:buNone/>
            </a:pPr>
            <a:r>
              <a:rPr lang="en-US" sz="1400" b="1" dirty="0">
                <a:solidFill>
                  <a:srgbClr val="1C2331"/>
                </a:solidFill>
                <a:latin typeface="Calibri" pitchFamily="34" charset="0"/>
                <a:ea typeface="Calibri" pitchFamily="34" charset="-122"/>
                <a:cs typeface="Calibri" pitchFamily="34" charset="-120"/>
              </a:rPr>
              <a:t>Quantify concentration</a:t>
            </a:r>
            <a:endParaRPr lang="en-US" sz="1400" dirty="0"/>
          </a:p>
        </p:txBody>
      </p:sp>
      <p:sp>
        <p:nvSpPr>
          <p:cNvPr id="18" name="Text 16"/>
          <p:cNvSpPr txBox="1"/>
          <p:nvPr/>
        </p:nvSpPr>
        <p:spPr>
          <a:xfrm>
            <a:off x="6217920" y="1828800"/>
            <a:ext cx="2286000" cy="27432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Report prompt risk, response-macro mean, top-k share, and leave-top-k beside the average</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Diffuse risk calls for registry checks at install time; catastrophic tails call for flood guards and output bounds</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Neither estimand subsumes the other: the K2.7/K3 reversal is the clearest example</a:t>
            </a:r>
            <a:endParaRPr lang="en-US" sz="1050" dirty="0"/>
          </a:p>
        </p:txBody>
      </p:sp>
      <p:sp>
        <p:nvSpPr>
          <p:cNvPr id="19" name="Text 17"/>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Replication as measurement debugging: separate artifact fidelity, measurement validity, and contemporary relevance instead of issuing a binary verdict.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THREATS TO VALIDITY</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C2331"/>
                </a:solidFill>
                <a:latin typeface="Cambria" pitchFamily="34" charset="0"/>
                <a:ea typeface="Cambria" pitchFamily="34" charset="-122"/>
                <a:cs typeface="Cambria" pitchFamily="34" charset="-120"/>
              </a:rPr>
              <a:t>What the evidence does not support</a:t>
            </a:r>
            <a:endParaRPr lang="en-US" sz="2800" dirty="0"/>
          </a:p>
        </p:txBody>
      </p:sp>
      <p:sp>
        <p:nvSpPr>
          <p:cNvPr id="4" name="Text 2"/>
          <p:cNvSpPr txBox="1"/>
          <p:nvPr/>
        </p:nvSpPr>
        <p:spPr>
          <a:xfrm>
            <a:off x="457200" y="1097280"/>
            <a:ext cx="4023360" cy="320040"/>
          </a:xfrm>
          <a:prstGeom prst="rect">
            <a:avLst/>
          </a:prstGeom>
          <a:noFill/>
          <a:ln/>
        </p:spPr>
        <p:txBody>
          <a:bodyPr wrap="square" lIns="0" tIns="0" rIns="0" bIns="0" rtlCol="0" anchor="t"/>
          <a:lstStyle/>
          <a:p>
            <a:pPr algn="l" indent="0" marL="0">
              <a:buNone/>
            </a:pPr>
            <a:r>
              <a:rPr lang="en-US" sz="1400" b="1" dirty="0">
                <a:solidFill>
                  <a:srgbClr val="1C2331"/>
                </a:solidFill>
                <a:latin typeface="Calibri" pitchFamily="34" charset="0"/>
                <a:ea typeface="Calibri" pitchFamily="34" charset="-122"/>
                <a:cs typeface="Calibri" pitchFamily="34" charset="-120"/>
              </a:rPr>
              <a:t>Limitations</a:t>
            </a:r>
            <a:endParaRPr lang="en-US" sz="1400" dirty="0"/>
          </a:p>
        </p:txBody>
      </p:sp>
      <p:sp>
        <p:nvSpPr>
          <p:cNvPr id="5" name="Text 3"/>
          <p:cNvSpPr txBox="1"/>
          <p:nvPr/>
        </p:nvSpPr>
        <p:spPr>
          <a:xfrm>
            <a:off x="457200" y="1463040"/>
            <a:ext cx="3931920" cy="32004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Python only, and a package-query task rather than general code generation</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Nine purposive cells, not a representative sample of frontier or local models</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One fixed prompt subset and one modern generation draw per model</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Parser v2 has 79.75% end-to-end recall in the validation sample; the Track B audit was AI-reviewed at maintainer direction</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Unregistered names include ecosystem mismatches, not only invented strings</a:t>
            </a:r>
            <a:endParaRPr lang="en-US" sz="1050" dirty="0"/>
          </a:p>
          <a:p>
            <a:pPr marL="177800" indent="-177800">
              <a:spcAft>
                <a:spcPts val="600"/>
              </a:spcAft>
              <a:buSzPct val="100000"/>
              <a:buChar char="•"/>
            </a:pPr>
            <a:r>
              <a:rPr lang="en-US" sz="1050" dirty="0">
                <a:solidFill>
                  <a:srgbClr val="2E3A4F"/>
                </a:solidFill>
                <a:latin typeface="Calibri" pitchFamily="34" charset="0"/>
                <a:ea typeface="Calibri" pitchFamily="34" charset="-122"/>
                <a:cs typeface="Calibri" pitchFamily="34" charset="-120"/>
              </a:rPr>
              <a:t>The Churilov bridge has no exact model overlap and imports can denote local modules</a:t>
            </a:r>
            <a:endParaRPr lang="en-US" sz="1050" dirty="0"/>
          </a:p>
        </p:txBody>
      </p:sp>
      <p:sp>
        <p:nvSpPr>
          <p:cNvPr id="6" name="Shape 4"/>
          <p:cNvSpPr/>
          <p:nvPr/>
        </p:nvSpPr>
        <p:spPr>
          <a:xfrm>
            <a:off x="4663440" y="1051560"/>
            <a:ext cx="4023360" cy="3611880"/>
          </a:xfrm>
          <a:prstGeom prst="roundRect">
            <a:avLst>
              <a:gd name="adj" fmla="val 2025"/>
            </a:avLst>
          </a:prstGeom>
          <a:solidFill>
            <a:srgbClr val="F2F4F7"/>
          </a:solidFill>
          <a:ln w="12700">
            <a:solidFill>
              <a:srgbClr val="F2F4F7"/>
            </a:solidFill>
            <a:prstDash val="solid"/>
          </a:ln>
        </p:spPr>
      </p:sp>
      <p:sp>
        <p:nvSpPr>
          <p:cNvPr id="7" name="Text 5"/>
          <p:cNvSpPr txBox="1"/>
          <p:nvPr/>
        </p:nvSpPr>
        <p:spPr>
          <a:xfrm>
            <a:off x="4846320" y="1170432"/>
            <a:ext cx="3657600" cy="320040"/>
          </a:xfrm>
          <a:prstGeom prst="rect">
            <a:avLst/>
          </a:prstGeom>
          <a:noFill/>
          <a:ln/>
        </p:spPr>
        <p:txBody>
          <a:bodyPr wrap="square" lIns="0" tIns="0" rIns="0" bIns="0" rtlCol="0" anchor="t"/>
          <a:lstStyle/>
          <a:p>
            <a:pPr algn="l" indent="0" marL="0">
              <a:buNone/>
            </a:pPr>
            <a:r>
              <a:rPr lang="en-US" sz="1400" b="1" dirty="0">
                <a:solidFill>
                  <a:srgbClr val="B5432F"/>
                </a:solidFill>
                <a:latin typeface="Calibri" pitchFamily="34" charset="0"/>
                <a:ea typeface="Calibri" pitchFamily="34" charset="-122"/>
                <a:cs typeface="Calibri" pitchFamily="34" charset="-120"/>
              </a:rPr>
              <a:t>Claims to avoid</a:t>
            </a:r>
            <a:endParaRPr lang="en-US" sz="1400" dirty="0"/>
          </a:p>
        </p:txBody>
      </p:sp>
      <p:sp>
        <p:nvSpPr>
          <p:cNvPr id="8" name="Text 6"/>
          <p:cNvSpPr txBox="1"/>
          <p:nvPr/>
        </p:nvSpPr>
        <p:spPr>
          <a:xfrm>
            <a:off x="4846320" y="1536192"/>
            <a:ext cx="3657600" cy="3108960"/>
          </a:xfrm>
          <a:prstGeom prst="rect">
            <a:avLst/>
          </a:prstGeom>
          <a:noFill/>
          <a:ln/>
        </p:spPr>
        <p:txBody>
          <a:bodyPr wrap="square" lIns="0" tIns="0" rIns="0" bIns="0" rtlCol="0" anchor="t"/>
          <a:lstStyle/>
          <a:p>
            <a:pPr marL="177800" indent="-177800">
              <a:spcAft>
                <a:spcPts val="500"/>
              </a:spcAft>
              <a:buSzPct val="100000"/>
              <a:buChar char="•"/>
            </a:pPr>
            <a:r>
              <a:rPr lang="en-US" sz="1000" dirty="0">
                <a:solidFill>
                  <a:srgbClr val="2E3A4F"/>
                </a:solidFill>
                <a:latin typeface="Calibri" pitchFamily="34" charset="0"/>
                <a:ea typeface="Calibri" pitchFamily="34" charset="-122"/>
                <a:cs typeface="Calibri" pitchFamily="34" charset="-120"/>
              </a:rPr>
              <a:t>"Frontier models have a 1.3–2.2% rate." Grok and DeepSeek V4 refute the generalization</a:t>
            </a:r>
            <a:endParaRPr lang="en-US" sz="1000" dirty="0"/>
          </a:p>
          <a:p>
            <a:pPr marL="177800" indent="-177800">
              <a:spcAft>
                <a:spcPts val="500"/>
              </a:spcAft>
              <a:buSzPct val="100000"/>
              <a:buChar char="•"/>
            </a:pPr>
            <a:r>
              <a:rPr lang="en-US" sz="1000" dirty="0">
                <a:solidFill>
                  <a:srgbClr val="2E3A4F"/>
                </a:solidFill>
                <a:latin typeface="Calibri" pitchFamily="34" charset="0"/>
                <a:ea typeface="Calibri" pitchFamily="34" charset="-122"/>
                <a:cs typeface="Calibri" pitchFamily="34" charset="-120"/>
              </a:rPr>
              <a:t>"The cap effect vanished" or "temperature caused it." The diagnostic supports non-reproduction, not causal elimination</a:t>
            </a:r>
            <a:endParaRPr lang="en-US" sz="1000" dirty="0"/>
          </a:p>
          <a:p>
            <a:pPr marL="177800" indent="-177800">
              <a:spcAft>
                <a:spcPts val="500"/>
              </a:spcAft>
              <a:buSzPct val="100000"/>
              <a:buChar char="•"/>
            </a:pPr>
            <a:r>
              <a:rPr lang="en-US" sz="1000" dirty="0">
                <a:solidFill>
                  <a:srgbClr val="2E3A4F"/>
                </a:solidFill>
                <a:latin typeface="Calibri" pitchFamily="34" charset="0"/>
                <a:ea typeface="Calibri" pitchFamily="34" charset="-122"/>
                <a:cs typeface="Calibri" pitchFamily="34" charset="-120"/>
              </a:rPr>
              <a:t>"Removing cap hits repairs Kimi." K2.7 uses a longest-response proxy; K3's cap exclusion is post-treatment conditioning</a:t>
            </a:r>
            <a:endParaRPr lang="en-US" sz="1000" dirty="0"/>
          </a:p>
          <a:p>
            <a:pPr marL="177800" indent="-177800">
              <a:spcAft>
                <a:spcPts val="500"/>
              </a:spcAft>
              <a:buSzPct val="100000"/>
              <a:buChar char="•"/>
            </a:pPr>
            <a:r>
              <a:rPr lang="en-US" sz="1000" dirty="0">
                <a:solidFill>
                  <a:srgbClr val="2E3A4F"/>
                </a:solidFill>
                <a:latin typeface="Calibri" pitchFamily="34" charset="0"/>
                <a:ea typeface="Calibri" pitchFamily="34" charset="-122"/>
                <a:cs typeface="Calibri" pitchFamily="34" charset="-120"/>
              </a:rPr>
              <a:t>"K3 is simply worse than K2.7." The ranking depends on the estimand</a:t>
            </a:r>
            <a:endParaRPr lang="en-US" sz="1000" dirty="0"/>
          </a:p>
          <a:p>
            <a:pPr marL="177800" indent="-177800">
              <a:spcAft>
                <a:spcPts val="500"/>
              </a:spcAft>
              <a:buSzPct val="100000"/>
              <a:buChar char="•"/>
            </a:pPr>
            <a:r>
              <a:rPr lang="en-US" sz="1000" dirty="0">
                <a:solidFill>
                  <a:srgbClr val="2E3A4F"/>
                </a:solidFill>
                <a:latin typeface="Calibri" pitchFamily="34" charset="0"/>
                <a:ea typeface="Calibri" pitchFamily="34" charset="-122"/>
                <a:cs typeface="Calibri" pitchFamily="34" charset="-120"/>
              </a:rPr>
              <a:t>"Universal names prove shared training data." Same-prompt elicitation explains four of five</a:t>
            </a:r>
            <a:endParaRPr lang="en-US" sz="1000" dirty="0"/>
          </a:p>
          <a:p>
            <a:pPr marL="177800" indent="-177800">
              <a:spcAft>
                <a:spcPts val="500"/>
              </a:spcAft>
              <a:buSzPct val="100000"/>
              <a:buChar char="•"/>
            </a:pPr>
            <a:r>
              <a:rPr lang="en-US" sz="1000" dirty="0">
                <a:solidFill>
                  <a:srgbClr val="2E3A4F"/>
                </a:solidFill>
                <a:latin typeface="Calibri" pitchFamily="34" charset="0"/>
                <a:ea typeface="Calibri" pitchFamily="34" charset="-122"/>
                <a:cs typeface="Calibri" pitchFamily="34" charset="-120"/>
              </a:rPr>
              <a:t>"Kimi K3 was preregistered." The design is attested pre-outcome; provenance code changed mid-collection and there was no pre-data commit</a:t>
            </a:r>
            <a:endParaRPr lang="en-US" sz="1000" dirty="0"/>
          </a:p>
        </p:txBody>
      </p:sp>
      <p:sp>
        <p:nvSpPr>
          <p:cNvPr id="9" name="Text 7"/>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Every post-hoc tail, EOS, sentinel, and recentered-bootstrap analysis stays labeled post hoc. Source: PAPER_OUTLINE.md §6 and "Claims to avoid".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2331"/>
        </a:solidFill>
      </p:bgPr>
    </p:bg>
    <p:spTree>
      <p:nvGrpSpPr>
        <p:cNvPr id="1" name=""/>
        <p:cNvGrpSpPr/>
        <p:nvPr/>
      </p:nvGrpSpPr>
      <p:grpSpPr>
        <a:xfrm>
          <a:off x="0" y="0"/>
          <a:ext cx="0" cy="0"/>
          <a:chOff x="0" y="0"/>
          <a:chExt cx="0" cy="0"/>
        </a:xfrm>
      </p:grpSpPr>
      <p:sp>
        <p:nvSpPr>
          <p:cNvPr id="2" name="Shape 0"/>
          <p:cNvSpPr/>
          <p:nvPr/>
        </p:nvSpPr>
        <p:spPr>
          <a:xfrm>
            <a:off x="-1463040" y="3108960"/>
            <a:ext cx="3657600" cy="3657600"/>
          </a:xfrm>
          <a:prstGeom prst="ellipse">
            <a:avLst/>
          </a:prstGeom>
          <a:solidFill>
            <a:srgbClr val="2E3A4F"/>
          </a:solidFill>
          <a:ln w="12700">
            <a:solidFill>
              <a:srgbClr val="2E3A4F"/>
            </a:solidFill>
            <a:prstDash val="solid"/>
          </a:ln>
        </p:spPr>
      </p:sp>
      <p:sp>
        <p:nvSpPr>
          <p:cNvPr id="3" name="Text 1"/>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200" kern="0" dirty="0">
                <a:solidFill>
                  <a:srgbClr val="E09F3E"/>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Three sentences to take away</a:t>
            </a:r>
            <a:endParaRPr lang="en-US" sz="2800" dirty="0"/>
          </a:p>
        </p:txBody>
      </p:sp>
      <p:sp>
        <p:nvSpPr>
          <p:cNvPr id="5" name="Shape 3"/>
          <p:cNvSpPr/>
          <p:nvPr/>
        </p:nvSpPr>
        <p:spPr>
          <a:xfrm>
            <a:off x="502920" y="1188720"/>
            <a:ext cx="384048" cy="384048"/>
          </a:xfrm>
          <a:prstGeom prst="ellipse">
            <a:avLst/>
          </a:prstGeom>
          <a:solidFill>
            <a:srgbClr val="E09F3E"/>
          </a:solidFill>
          <a:ln w="12700">
            <a:solidFill>
              <a:srgbClr val="E09F3E"/>
            </a:solidFill>
            <a:prstDash val="solid"/>
          </a:ln>
        </p:spPr>
      </p:sp>
      <p:sp>
        <p:nvSpPr>
          <p:cNvPr id="6" name="Text 4"/>
          <p:cNvSpPr txBox="1"/>
          <p:nvPr/>
        </p:nvSpPr>
        <p:spPr>
          <a:xfrm>
            <a:off x="502920" y="1188720"/>
            <a:ext cx="384048" cy="384048"/>
          </a:xfrm>
          <a:prstGeom prst="rect">
            <a:avLst/>
          </a:prstGeom>
          <a:noFill/>
          <a:ln/>
        </p:spPr>
        <p:txBody>
          <a:bodyPr wrap="square" lIns="0" tIns="0" rIns="0" bIns="0" rtlCol="0" anchor="ctr"/>
          <a:lstStyle/>
          <a:p>
            <a:pPr algn="ctr" indent="0" marL="0">
              <a:buNone/>
            </a:pPr>
            <a:r>
              <a:rPr lang="en-US" sz="1300" b="1" dirty="0">
                <a:solidFill>
                  <a:srgbClr val="1C2331"/>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51560" y="1143000"/>
            <a:ext cx="7589520" cy="6858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The historical pattern broadly reproduces, but the exact DeepSeek value does not under its own family parser.</a:t>
            </a:r>
            <a:endParaRPr lang="en-US" sz="1500" dirty="0"/>
          </a:p>
        </p:txBody>
      </p:sp>
      <p:sp>
        <p:nvSpPr>
          <p:cNvPr id="8" name="Shape 6"/>
          <p:cNvSpPr/>
          <p:nvPr/>
        </p:nvSpPr>
        <p:spPr>
          <a:xfrm>
            <a:off x="502920" y="1965960"/>
            <a:ext cx="384048" cy="384048"/>
          </a:xfrm>
          <a:prstGeom prst="ellipse">
            <a:avLst/>
          </a:prstGeom>
          <a:solidFill>
            <a:srgbClr val="E09F3E"/>
          </a:solidFill>
          <a:ln w="12700">
            <a:solidFill>
              <a:srgbClr val="E09F3E"/>
            </a:solidFill>
            <a:prstDash val="solid"/>
          </a:ln>
        </p:spPr>
      </p:sp>
      <p:sp>
        <p:nvSpPr>
          <p:cNvPr id="9" name="Text 7"/>
          <p:cNvSpPr txBox="1"/>
          <p:nvPr/>
        </p:nvSpPr>
        <p:spPr>
          <a:xfrm>
            <a:off x="502920" y="1965960"/>
            <a:ext cx="384048" cy="384048"/>
          </a:xfrm>
          <a:prstGeom prst="rect">
            <a:avLst/>
          </a:prstGeom>
          <a:noFill/>
          <a:ln/>
        </p:spPr>
        <p:txBody>
          <a:bodyPr wrap="square" lIns="0" tIns="0" rIns="0" bIns="0" rtlCol="0" anchor="ctr"/>
          <a:lstStyle/>
          <a:p>
            <a:pPr algn="ctr" indent="0" marL="0">
              <a:buNone/>
            </a:pPr>
            <a:r>
              <a:rPr lang="en-US" sz="1300" b="1" dirty="0">
                <a:solidFill>
                  <a:srgbClr val="1C2331"/>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51560" y="1920240"/>
            <a:ext cx="7589520" cy="6858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Modern models show distinct diffuse and catastrophic-tail failure regimes that a single average conceals.</a:t>
            </a:r>
            <a:endParaRPr lang="en-US" sz="1500" dirty="0"/>
          </a:p>
        </p:txBody>
      </p:sp>
      <p:sp>
        <p:nvSpPr>
          <p:cNvPr id="11" name="Shape 9"/>
          <p:cNvSpPr/>
          <p:nvPr/>
        </p:nvSpPr>
        <p:spPr>
          <a:xfrm>
            <a:off x="502920" y="2743200"/>
            <a:ext cx="384048" cy="384048"/>
          </a:xfrm>
          <a:prstGeom prst="ellipse">
            <a:avLst/>
          </a:prstGeom>
          <a:solidFill>
            <a:srgbClr val="E09F3E"/>
          </a:solidFill>
          <a:ln w="12700">
            <a:solidFill>
              <a:srgbClr val="E09F3E"/>
            </a:solidFill>
            <a:prstDash val="solid"/>
          </a:ln>
        </p:spPr>
      </p:sp>
      <p:sp>
        <p:nvSpPr>
          <p:cNvPr id="12" name="Text 10"/>
          <p:cNvSpPr txBox="1"/>
          <p:nvPr/>
        </p:nvSpPr>
        <p:spPr>
          <a:xfrm>
            <a:off x="502920" y="2743200"/>
            <a:ext cx="384048" cy="384048"/>
          </a:xfrm>
          <a:prstGeom prst="rect">
            <a:avLst/>
          </a:prstGeom>
          <a:noFill/>
          <a:ln/>
        </p:spPr>
        <p:txBody>
          <a:bodyPr wrap="square" lIns="0" tIns="0" rIns="0" bIns="0" rtlCol="0" anchor="ctr"/>
          <a:lstStyle/>
          <a:p>
            <a:pPr algn="ctr" indent="0" marL="0">
              <a:buNone/>
            </a:pPr>
            <a:r>
              <a:rPr lang="en-US" sz="1300" b="1" dirty="0">
                <a:solidFill>
                  <a:srgbClr val="1C2331"/>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51560" y="2697480"/>
            <a:ext cx="7589520" cy="6858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Future evaluations should version the registry and parser, report response coverage, cluster by prompt, and quantify concentration.</a:t>
            </a:r>
            <a:endParaRPr lang="en-US" sz="1500" dirty="0"/>
          </a:p>
        </p:txBody>
      </p:sp>
      <p:sp>
        <p:nvSpPr>
          <p:cNvPr id="14" name="Shape 12"/>
          <p:cNvSpPr/>
          <p:nvPr/>
        </p:nvSpPr>
        <p:spPr>
          <a:xfrm>
            <a:off x="457200" y="3611880"/>
            <a:ext cx="8229600" cy="960120"/>
          </a:xfrm>
          <a:prstGeom prst="roundRect">
            <a:avLst>
              <a:gd name="adj" fmla="val 7619"/>
            </a:avLst>
          </a:prstGeom>
          <a:solidFill>
            <a:srgbClr val="2E3A4F"/>
          </a:solidFill>
          <a:ln w="12700">
            <a:solidFill>
              <a:srgbClr val="2E3A4F"/>
            </a:solidFill>
            <a:prstDash val="solid"/>
          </a:ln>
        </p:spPr>
      </p:sp>
      <p:sp>
        <p:nvSpPr>
          <p:cNvPr id="15" name="Text 13"/>
          <p:cNvSpPr txBox="1"/>
          <p:nvPr/>
        </p:nvSpPr>
        <p:spPr>
          <a:xfrm>
            <a:off x="640080" y="3703320"/>
            <a:ext cx="1828800" cy="274320"/>
          </a:xfrm>
          <a:prstGeom prst="rect">
            <a:avLst/>
          </a:prstGeom>
          <a:noFill/>
          <a:ln/>
        </p:spPr>
        <p:txBody>
          <a:bodyPr wrap="square" lIns="0" tIns="0" rIns="0" bIns="0" rtlCol="0" anchor="t"/>
          <a:lstStyle/>
          <a:p>
            <a:pPr algn="l" indent="0" marL="0">
              <a:buNone/>
            </a:pPr>
            <a:r>
              <a:rPr lang="en-US" sz="1000" b="1" dirty="0">
                <a:solidFill>
                  <a:srgbClr val="E09F3E"/>
                </a:solidFill>
                <a:latin typeface="Calibri" pitchFamily="34" charset="0"/>
                <a:ea typeface="Calibri" pitchFamily="34" charset="-122"/>
                <a:cs typeface="Calibri" pitchFamily="34" charset="-120"/>
              </a:rPr>
              <a:t>NEXT EXPERIMENT</a:t>
            </a:r>
            <a:endParaRPr lang="en-US" sz="1000" dirty="0"/>
          </a:p>
        </p:txBody>
      </p:sp>
      <p:sp>
        <p:nvSpPr>
          <p:cNvPr id="16" name="Text 14"/>
          <p:cNvSpPr txBox="1"/>
          <p:nvPr/>
        </p:nvSpPr>
        <p:spPr>
          <a:xfrm>
            <a:off x="640080" y="3959352"/>
            <a:ext cx="7863840" cy="594360"/>
          </a:xfrm>
          <a:prstGeom prst="rect">
            <a:avLst/>
          </a:prstGeom>
          <a:noFill/>
          <a:ln/>
        </p:spPr>
        <p:txBody>
          <a:bodyPr wrap="square" lIns="0" tIns="0" rIns="0" bIns="0" rtlCol="0" anchor="t"/>
          <a:lstStyle/>
          <a:p>
            <a:pPr algn="l" indent="0" marL="0">
              <a:buNone/>
            </a:pPr>
            <a:r>
              <a:rPr lang="en-US" sz="1150" dirty="0">
                <a:solidFill>
                  <a:srgbClr val="E1E5EC"/>
                </a:solidFill>
                <a:latin typeface="Calibri" pitchFamily="34" charset="0"/>
                <a:ea typeface="Calibri" pitchFamily="34" charset="-122"/>
                <a:cs typeface="Calibri" pitchFamily="34" charset="-120"/>
              </a:rPr>
              <a:t>A within-prompt package-cap × bounded-list factorial, launched through the commit-based freeze gate. It separates runaway enumeration from token-boundary truncation and tests a practical mitigation. No further unconstrained model cells are recommended for this paper.</a:t>
            </a:r>
            <a:endParaRPr lang="en-US" sz="1150" dirty="0"/>
          </a:p>
        </p:txBody>
      </p:sp>
      <p:sp>
        <p:nvSpPr>
          <p:cNvPr id="17" name="Text 15"/>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i="1" dirty="0">
                <a:solidFill>
                  <a:srgbClr val="A9B1C2"/>
                </a:solidFill>
                <a:latin typeface="Calibri" pitchFamily="34" charset="0"/>
                <a:ea typeface="Calibri" pitchFamily="34" charset="-122"/>
                <a:cs typeface="Calibri" pitchFamily="34" charset="-120"/>
              </a:rPr>
              <a:t>Artifacts: campaign4_results.json, ollama_cloud_extension_results.json, kimi_k3_extension_results.json, churilov_bridge_analysis.json, PROVENANCE_STAMP_2026-08-26.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Package Hallucinations Revisited</dc:title>
  <dc:subject>PptxGenJS Presentation</dc:subject>
  <dc:creator>PackageHallucination replication</dc:creator>
  <cp:lastModifiedBy>PackageHallucination replication</cp:lastModifiedBy>
  <cp:revision>1</cp:revision>
  <dcterms:created xsi:type="dcterms:W3CDTF">2026-09-08T23:57:58Z</dcterms:created>
  <dcterms:modified xsi:type="dcterms:W3CDTF">2026-09-08T23:57:58Z</dcterms:modified>
</cp:coreProperties>
</file>